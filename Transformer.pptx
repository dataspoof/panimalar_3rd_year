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8" r:id="rId4"/>
    <p:sldId id="294" r:id="rId5"/>
    <p:sldId id="289" r:id="rId6"/>
    <p:sldId id="290" r:id="rId7"/>
    <p:sldId id="291" r:id="rId8"/>
    <p:sldId id="292" r:id="rId9"/>
    <p:sldId id="293" r:id="rId10"/>
    <p:sldId id="258" r:id="rId11"/>
    <p:sldId id="259" r:id="rId12"/>
    <p:sldId id="260" r:id="rId13"/>
    <p:sldId id="261" r:id="rId14"/>
    <p:sldId id="262" r:id="rId15"/>
    <p:sldId id="263" r:id="rId16"/>
    <p:sldId id="265" r:id="rId17"/>
    <p:sldId id="264"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2" r:id="rId33"/>
    <p:sldId id="283" r:id="rId34"/>
    <p:sldId id="284" r:id="rId35"/>
    <p:sldId id="285" r:id="rId36"/>
    <p:sldId id="286" r:id="rId37"/>
    <p:sldId id="287" r:id="rId38"/>
    <p:sldId id="281" r:id="rId39"/>
    <p:sldId id="295" r:id="rId40"/>
    <p:sldId id="28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97E40-DEC0-4C7D-B567-2166DD6580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597316-0359-EA0B-A50E-FFB1EC899D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9AB606-8551-A146-130B-C8733B38FAD1}"/>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5" name="Footer Placeholder 4">
            <a:extLst>
              <a:ext uri="{FF2B5EF4-FFF2-40B4-BE49-F238E27FC236}">
                <a16:creationId xmlns:a16="http://schemas.microsoft.com/office/drawing/2014/main" id="{2CEC4F59-927E-750D-0BEB-5AF253C67E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B959FD-804C-2DAE-00D3-6EF35F7675F7}"/>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01025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2D7C8-D396-58B7-5C2C-8AC3EB444C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20A536-E6B1-C664-FD6C-8B8608345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04CB3-C59D-A695-DD55-955247776EAC}"/>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5" name="Footer Placeholder 4">
            <a:extLst>
              <a:ext uri="{FF2B5EF4-FFF2-40B4-BE49-F238E27FC236}">
                <a16:creationId xmlns:a16="http://schemas.microsoft.com/office/drawing/2014/main" id="{089905E2-C496-C997-ED1D-45CE64A94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5ED9D4-AB62-7054-5430-84D6845D234A}"/>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573382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C9332-6D0F-5873-ABE9-5792111663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DB555B-5564-2F67-2D38-B79D1876CB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C2DE7-023C-530D-D387-2582BC888F1B}"/>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5" name="Footer Placeholder 4">
            <a:extLst>
              <a:ext uri="{FF2B5EF4-FFF2-40B4-BE49-F238E27FC236}">
                <a16:creationId xmlns:a16="http://schemas.microsoft.com/office/drawing/2014/main" id="{42EEBE97-63A6-0F1C-1164-BADF278943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5D25D6-1063-2C8A-5A04-2B5EAEEBB7B1}"/>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107602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D4D5-6E13-B571-8C5C-25D2213682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64AD5A-D023-B2E2-D931-3333147DF5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A2CD44-6124-7F1F-CAEB-50E84F17F4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97EBFC-F17B-D94C-F06A-94DD976533DE}"/>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6" name="Footer Placeholder 5">
            <a:extLst>
              <a:ext uri="{FF2B5EF4-FFF2-40B4-BE49-F238E27FC236}">
                <a16:creationId xmlns:a16="http://schemas.microsoft.com/office/drawing/2014/main" id="{2AAB947F-44A4-0899-73D0-98B0F8B9B6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459072-0D15-41F3-24A2-275A4B1FAEC5}"/>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518206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D52E1-EA85-2915-EB30-DC5FF111DC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74C995-4104-C5FB-185C-213B27ED32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15E630-645A-8569-AB61-5C89B89905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E0DF5F-0097-4B99-F4B4-EEE5ED15D3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6A2B-0BEA-53DE-D904-3955CA337D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3D4DDE-D222-358A-25A1-5797FBEF2F88}"/>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8" name="Footer Placeholder 7">
            <a:extLst>
              <a:ext uri="{FF2B5EF4-FFF2-40B4-BE49-F238E27FC236}">
                <a16:creationId xmlns:a16="http://schemas.microsoft.com/office/drawing/2014/main" id="{91D9A70B-DF0F-0FD2-DC60-1A63665EBB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C574AA-C772-0110-B0B3-59E3174C9845}"/>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551405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D8D26-CC91-3430-BEB2-0A4870EADF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45FED1-1EA4-B663-7AEB-A91F139E2843}"/>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4" name="Footer Placeholder 3">
            <a:extLst>
              <a:ext uri="{FF2B5EF4-FFF2-40B4-BE49-F238E27FC236}">
                <a16:creationId xmlns:a16="http://schemas.microsoft.com/office/drawing/2014/main" id="{E4097FC3-5A9D-6826-8D2E-F589564843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AE198C-45E5-2EBC-44A7-AE28AA549069}"/>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347731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B8BED5-EEE4-B562-31C8-7B734CCB898D}"/>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3" name="Footer Placeholder 2">
            <a:extLst>
              <a:ext uri="{FF2B5EF4-FFF2-40B4-BE49-F238E27FC236}">
                <a16:creationId xmlns:a16="http://schemas.microsoft.com/office/drawing/2014/main" id="{A6D20799-0044-61EA-BCCC-C8345931F3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DD4E9E-6D74-A685-7915-6DBDF6D9E360}"/>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446190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ABF66-A6A4-30D1-0AE3-52D968D69F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EDF096-E397-9067-CA54-9F3AD8D9C0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D8ECBF-54A1-E59A-995E-6835DF32C8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BE0C50-712D-4D88-DB43-004F2E981A56}"/>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6" name="Footer Placeholder 5">
            <a:extLst>
              <a:ext uri="{FF2B5EF4-FFF2-40B4-BE49-F238E27FC236}">
                <a16:creationId xmlns:a16="http://schemas.microsoft.com/office/drawing/2014/main" id="{885B3E10-36DC-C33E-0030-A99255C22A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8B9AC4-A583-2435-DA01-4BFE8DF4FC7D}"/>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2349959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EA78-E2C2-AC39-8AB6-EA21FF3741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983880-0065-23FC-1964-77B60E849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A702B0-7A61-2505-D282-1B08BA4AA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8175D3-6EE0-2928-6A82-AFDDB067365A}"/>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6" name="Footer Placeholder 5">
            <a:extLst>
              <a:ext uri="{FF2B5EF4-FFF2-40B4-BE49-F238E27FC236}">
                <a16:creationId xmlns:a16="http://schemas.microsoft.com/office/drawing/2014/main" id="{2E45FC80-DE1B-E87D-8C47-B9DB89612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F3FB12-E133-16A0-9859-8BB8745B1103}"/>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3692691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C11A-0495-4B0D-74D0-7685B387DB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297A84-F435-6205-461A-E59F3DC4C9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25E12C-F1BF-665C-F2B9-54801B9B93F1}"/>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5" name="Footer Placeholder 4">
            <a:extLst>
              <a:ext uri="{FF2B5EF4-FFF2-40B4-BE49-F238E27FC236}">
                <a16:creationId xmlns:a16="http://schemas.microsoft.com/office/drawing/2014/main" id="{ECBD8036-1A09-C615-E48B-1015F26310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4EC541-6C1F-0CE4-A400-37244739709E}"/>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3082299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4EAA00-2B05-20FA-0C60-AE2B42032E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12AEE3-51E2-E240-E582-A796751866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A23B67-6BC0-F719-2F0D-BFF31A26A750}"/>
              </a:ext>
            </a:extLst>
          </p:cNvPr>
          <p:cNvSpPr>
            <a:spLocks noGrp="1"/>
          </p:cNvSpPr>
          <p:nvPr>
            <p:ph type="dt" sz="half" idx="10"/>
          </p:nvPr>
        </p:nvSpPr>
        <p:spPr/>
        <p:txBody>
          <a:bodyPr/>
          <a:lstStyle/>
          <a:p>
            <a:fld id="{04D958BE-EB98-4BA7-A2ED-6834C108E999}" type="datetimeFigureOut">
              <a:rPr lang="en-IN" smtClean="0"/>
              <a:t>06-07-2025</a:t>
            </a:fld>
            <a:endParaRPr lang="en-IN"/>
          </a:p>
        </p:txBody>
      </p:sp>
      <p:sp>
        <p:nvSpPr>
          <p:cNvPr id="5" name="Footer Placeholder 4">
            <a:extLst>
              <a:ext uri="{FF2B5EF4-FFF2-40B4-BE49-F238E27FC236}">
                <a16:creationId xmlns:a16="http://schemas.microsoft.com/office/drawing/2014/main" id="{51D148D2-1785-655D-9F47-ADF3DD5257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F4DBB0-9D77-B01A-8575-596AD7AD1AA6}"/>
              </a:ext>
            </a:extLst>
          </p:cNvPr>
          <p:cNvSpPr>
            <a:spLocks noGrp="1"/>
          </p:cNvSpPr>
          <p:nvPr>
            <p:ph type="sldNum" sz="quarter" idx="12"/>
          </p:nvPr>
        </p:nvSpPr>
        <p:spPr/>
        <p:txBody>
          <a:bodyPr/>
          <a:lstStyle/>
          <a:p>
            <a:fld id="{292C6A8D-D836-40C2-AE2E-E55059DA1E2F}" type="slidenum">
              <a:rPr lang="en-IN" smtClean="0"/>
              <a:t>‹#›</a:t>
            </a:fld>
            <a:endParaRPr lang="en-IN"/>
          </a:p>
        </p:txBody>
      </p:sp>
    </p:spTree>
    <p:extLst>
      <p:ext uri="{BB962C8B-B14F-4D97-AF65-F5344CB8AC3E}">
        <p14:creationId xmlns:p14="http://schemas.microsoft.com/office/powerpoint/2010/main" val="47710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84DB8F-E92C-DDE0-0F12-DBD978012E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B4D7A8-7077-D94B-CFB2-D5BCCDF49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F9A80B-9010-D69B-838C-433774448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D958BE-EB98-4BA7-A2ED-6834C108E999}" type="datetimeFigureOut">
              <a:rPr lang="en-IN" smtClean="0"/>
              <a:t>06-07-2025</a:t>
            </a:fld>
            <a:endParaRPr lang="en-IN"/>
          </a:p>
        </p:txBody>
      </p:sp>
      <p:sp>
        <p:nvSpPr>
          <p:cNvPr id="5" name="Footer Placeholder 4">
            <a:extLst>
              <a:ext uri="{FF2B5EF4-FFF2-40B4-BE49-F238E27FC236}">
                <a16:creationId xmlns:a16="http://schemas.microsoft.com/office/drawing/2014/main" id="{04E00B87-37ED-FA4C-C97B-D7FC21FDCD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770C66-A945-DF96-CF56-FF269C5A1B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2C6A8D-D836-40C2-AE2E-E55059DA1E2F}" type="slidenum">
              <a:rPr lang="en-IN" smtClean="0"/>
              <a:t>‹#›</a:t>
            </a:fld>
            <a:endParaRPr lang="en-IN"/>
          </a:p>
        </p:txBody>
      </p:sp>
    </p:spTree>
    <p:extLst>
      <p:ext uri="{BB962C8B-B14F-4D97-AF65-F5344CB8AC3E}">
        <p14:creationId xmlns:p14="http://schemas.microsoft.com/office/powerpoint/2010/main" val="421346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rxiv.org/pdf/1706.0376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8DFB4-9CD2-48B9-7268-0DF273489124}"/>
              </a:ext>
            </a:extLst>
          </p:cNvPr>
          <p:cNvSpPr>
            <a:spLocks noGrp="1"/>
          </p:cNvSpPr>
          <p:nvPr>
            <p:ph type="ctrTitle"/>
          </p:nvPr>
        </p:nvSpPr>
        <p:spPr/>
        <p:txBody>
          <a:bodyPr/>
          <a:lstStyle/>
          <a:p>
            <a:r>
              <a:rPr lang="en-IN" dirty="0"/>
              <a:t>Transformer</a:t>
            </a:r>
          </a:p>
        </p:txBody>
      </p:sp>
      <p:sp>
        <p:nvSpPr>
          <p:cNvPr id="3" name="Subtitle 2">
            <a:extLst>
              <a:ext uri="{FF2B5EF4-FFF2-40B4-BE49-F238E27FC236}">
                <a16:creationId xmlns:a16="http://schemas.microsoft.com/office/drawing/2014/main" id="{DDE3CFE6-2950-3A52-0F96-C5452D2D146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8447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descr="A screenshot of a computer&#10;&#10;Description automatically generated">
            <a:extLst>
              <a:ext uri="{FF2B5EF4-FFF2-40B4-BE49-F238E27FC236}">
                <a16:creationId xmlns:a16="http://schemas.microsoft.com/office/drawing/2014/main" id="{83D8BADF-CC03-01A9-FBEA-226AE9150104}"/>
              </a:ext>
            </a:extLst>
          </p:cNvPr>
          <p:cNvPicPr>
            <a:picLocks noChangeAspect="1"/>
          </p:cNvPicPr>
          <p:nvPr/>
        </p:nvPicPr>
        <p:blipFill>
          <a:blip r:embed="rId2">
            <a:extLst>
              <a:ext uri="{28A0092B-C50C-407E-A947-70E740481C1C}">
                <a14:useLocalDpi xmlns:a14="http://schemas.microsoft.com/office/drawing/2010/main" val="0"/>
              </a:ext>
            </a:extLst>
          </a:blip>
          <a:srcRect b="14482"/>
          <a:stretch/>
        </p:blipFill>
        <p:spPr>
          <a:xfrm>
            <a:off x="2885010" y="1046862"/>
            <a:ext cx="6421980" cy="4764276"/>
          </a:xfrm>
          <a:prstGeom prst="rect">
            <a:avLst/>
          </a:prstGeom>
        </p:spPr>
      </p:pic>
    </p:spTree>
    <p:extLst>
      <p:ext uri="{BB962C8B-B14F-4D97-AF65-F5344CB8AC3E}">
        <p14:creationId xmlns:p14="http://schemas.microsoft.com/office/powerpoint/2010/main" val="1545376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05F3-19D5-8028-4C82-743126D6D529}"/>
              </a:ext>
            </a:extLst>
          </p:cNvPr>
          <p:cNvSpPr>
            <a:spLocks noGrp="1"/>
          </p:cNvSpPr>
          <p:nvPr>
            <p:ph type="title"/>
          </p:nvPr>
        </p:nvSpPr>
        <p:spPr/>
        <p:txBody>
          <a:bodyPr/>
          <a:lstStyle/>
          <a:p>
            <a:r>
              <a:rPr lang="en-IN" dirty="0"/>
              <a:t>RNN</a:t>
            </a:r>
          </a:p>
        </p:txBody>
      </p:sp>
      <p:sp>
        <p:nvSpPr>
          <p:cNvPr id="3" name="Content Placeholder 2">
            <a:extLst>
              <a:ext uri="{FF2B5EF4-FFF2-40B4-BE49-F238E27FC236}">
                <a16:creationId xmlns:a16="http://schemas.microsoft.com/office/drawing/2014/main" id="{32FBD339-1A0F-0FCF-E77F-2124ECD1D50A}"/>
              </a:ext>
            </a:extLst>
          </p:cNvPr>
          <p:cNvSpPr>
            <a:spLocks noGrp="1"/>
          </p:cNvSpPr>
          <p:nvPr>
            <p:ph idx="1"/>
          </p:nvPr>
        </p:nvSpPr>
        <p:spPr/>
        <p:txBody>
          <a:bodyPr/>
          <a:lstStyle/>
          <a:p>
            <a:r>
              <a:rPr lang="en-US" b="0" i="0" dirty="0">
                <a:solidFill>
                  <a:srgbClr val="333333"/>
                </a:solidFill>
                <a:effectLst/>
                <a:latin typeface="CMS"/>
              </a:rPr>
              <a:t>the clouds are in the </a:t>
            </a:r>
            <a:r>
              <a:rPr lang="en-US" b="0" i="1" dirty="0">
                <a:solidFill>
                  <a:srgbClr val="FF0000"/>
                </a:solidFill>
                <a:effectLst/>
                <a:latin typeface="CMS"/>
              </a:rPr>
              <a:t>sky</a:t>
            </a:r>
            <a:endParaRPr lang="en-IN" dirty="0">
              <a:solidFill>
                <a:srgbClr val="FF0000"/>
              </a:solidFill>
            </a:endParaRPr>
          </a:p>
        </p:txBody>
      </p:sp>
    </p:spTree>
    <p:extLst>
      <p:ext uri="{BB962C8B-B14F-4D97-AF65-F5344CB8AC3E}">
        <p14:creationId xmlns:p14="http://schemas.microsoft.com/office/powerpoint/2010/main" val="1451867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E2363-8894-9CFF-38D8-195CA5C8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99BCB-9657-C4F6-2253-31AD423A4D7A}"/>
              </a:ext>
            </a:extLst>
          </p:cNvPr>
          <p:cNvSpPr>
            <a:spLocks noGrp="1"/>
          </p:cNvSpPr>
          <p:nvPr>
            <p:ph type="title"/>
          </p:nvPr>
        </p:nvSpPr>
        <p:spPr/>
        <p:txBody>
          <a:bodyPr/>
          <a:lstStyle/>
          <a:p>
            <a:r>
              <a:rPr lang="en-IN" dirty="0"/>
              <a:t>RNN</a:t>
            </a:r>
          </a:p>
        </p:txBody>
      </p:sp>
      <p:sp>
        <p:nvSpPr>
          <p:cNvPr id="3" name="Content Placeholder 2">
            <a:extLst>
              <a:ext uri="{FF2B5EF4-FFF2-40B4-BE49-F238E27FC236}">
                <a16:creationId xmlns:a16="http://schemas.microsoft.com/office/drawing/2014/main" id="{BE2B9C5A-317C-938E-8193-E380159A688A}"/>
              </a:ext>
            </a:extLst>
          </p:cNvPr>
          <p:cNvSpPr>
            <a:spLocks noGrp="1"/>
          </p:cNvSpPr>
          <p:nvPr>
            <p:ph idx="1"/>
          </p:nvPr>
        </p:nvSpPr>
        <p:spPr/>
        <p:txBody>
          <a:bodyPr/>
          <a:lstStyle/>
          <a:p>
            <a:r>
              <a:rPr lang="en-US" b="0" i="0" dirty="0">
                <a:solidFill>
                  <a:srgbClr val="333333"/>
                </a:solidFill>
                <a:effectLst/>
                <a:latin typeface="CMS"/>
              </a:rPr>
              <a:t>the clouds are in the </a:t>
            </a:r>
            <a:r>
              <a:rPr lang="en-US" b="0" i="1" dirty="0">
                <a:solidFill>
                  <a:srgbClr val="FF0000"/>
                </a:solidFill>
                <a:effectLst/>
                <a:latin typeface="CMS"/>
              </a:rPr>
              <a:t>sky</a:t>
            </a:r>
            <a:endParaRPr lang="en-IN" dirty="0">
              <a:solidFill>
                <a:srgbClr val="FF0000"/>
              </a:solidFill>
            </a:endParaRPr>
          </a:p>
        </p:txBody>
      </p:sp>
      <p:sp>
        <p:nvSpPr>
          <p:cNvPr id="4" name="Left Brace 3">
            <a:extLst>
              <a:ext uri="{FF2B5EF4-FFF2-40B4-BE49-F238E27FC236}">
                <a16:creationId xmlns:a16="http://schemas.microsoft.com/office/drawing/2014/main" id="{10E29399-E35F-A709-C838-94C1A4B77F04}"/>
              </a:ext>
            </a:extLst>
          </p:cNvPr>
          <p:cNvSpPr/>
          <p:nvPr/>
        </p:nvSpPr>
        <p:spPr>
          <a:xfrm rot="16200000">
            <a:off x="2989010" y="1415844"/>
            <a:ext cx="580103" cy="2271253"/>
          </a:xfrm>
          <a:prstGeom prst="leftBrace">
            <a:avLst>
              <a:gd name="adj1" fmla="val 8333"/>
              <a:gd name="adj2" fmla="val 4828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 name="TextBox 4">
            <a:extLst>
              <a:ext uri="{FF2B5EF4-FFF2-40B4-BE49-F238E27FC236}">
                <a16:creationId xmlns:a16="http://schemas.microsoft.com/office/drawing/2014/main" id="{0276FEB9-2025-C095-0973-4F175AF96699}"/>
              </a:ext>
            </a:extLst>
          </p:cNvPr>
          <p:cNvSpPr txBox="1"/>
          <p:nvPr/>
        </p:nvSpPr>
        <p:spPr>
          <a:xfrm>
            <a:off x="1592354" y="2630984"/>
            <a:ext cx="1102161" cy="646331"/>
          </a:xfrm>
          <a:prstGeom prst="rect">
            <a:avLst/>
          </a:prstGeom>
          <a:noFill/>
        </p:spPr>
        <p:txBody>
          <a:bodyPr wrap="none" rtlCol="0">
            <a:spAutoFit/>
          </a:bodyPr>
          <a:lstStyle/>
          <a:p>
            <a:pPr algn="ctr"/>
            <a:r>
              <a:rPr lang="en-IN" dirty="0"/>
              <a:t>Relevant </a:t>
            </a:r>
          </a:p>
          <a:p>
            <a:pPr algn="ctr"/>
            <a:r>
              <a:rPr lang="en-IN" dirty="0"/>
              <a:t>word</a:t>
            </a:r>
          </a:p>
        </p:txBody>
      </p:sp>
      <p:sp>
        <p:nvSpPr>
          <p:cNvPr id="6" name="TextBox 5">
            <a:extLst>
              <a:ext uri="{FF2B5EF4-FFF2-40B4-BE49-F238E27FC236}">
                <a16:creationId xmlns:a16="http://schemas.microsoft.com/office/drawing/2014/main" id="{0D1B9C87-510E-F420-DD25-38779732FBB1}"/>
              </a:ext>
            </a:extLst>
          </p:cNvPr>
          <p:cNvSpPr txBox="1"/>
          <p:nvPr/>
        </p:nvSpPr>
        <p:spPr>
          <a:xfrm>
            <a:off x="3956022" y="2653293"/>
            <a:ext cx="1189621" cy="646331"/>
          </a:xfrm>
          <a:prstGeom prst="rect">
            <a:avLst/>
          </a:prstGeom>
          <a:noFill/>
        </p:spPr>
        <p:txBody>
          <a:bodyPr wrap="none" rtlCol="0">
            <a:spAutoFit/>
          </a:bodyPr>
          <a:lstStyle/>
          <a:p>
            <a:pPr algn="ctr"/>
            <a:r>
              <a:rPr lang="en-IN" dirty="0"/>
              <a:t>Predicted </a:t>
            </a:r>
          </a:p>
          <a:p>
            <a:pPr algn="ctr"/>
            <a:r>
              <a:rPr lang="en-IN" dirty="0"/>
              <a:t>word</a:t>
            </a:r>
          </a:p>
        </p:txBody>
      </p:sp>
    </p:spTree>
    <p:extLst>
      <p:ext uri="{BB962C8B-B14F-4D97-AF65-F5344CB8AC3E}">
        <p14:creationId xmlns:p14="http://schemas.microsoft.com/office/powerpoint/2010/main" val="3453845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CBAA-9FFA-6B37-58FD-E07D114E1E9F}"/>
              </a:ext>
            </a:extLst>
          </p:cNvPr>
          <p:cNvSpPr>
            <a:spLocks noGrp="1"/>
          </p:cNvSpPr>
          <p:nvPr>
            <p:ph type="title"/>
          </p:nvPr>
        </p:nvSpPr>
        <p:spPr/>
        <p:txBody>
          <a:bodyPr/>
          <a:lstStyle/>
          <a:p>
            <a:r>
              <a:rPr lang="en-IN" dirty="0"/>
              <a:t>Problems with RNN</a:t>
            </a:r>
          </a:p>
        </p:txBody>
      </p:sp>
      <p:sp>
        <p:nvSpPr>
          <p:cNvPr id="3" name="Content Placeholder 2">
            <a:extLst>
              <a:ext uri="{FF2B5EF4-FFF2-40B4-BE49-F238E27FC236}">
                <a16:creationId xmlns:a16="http://schemas.microsoft.com/office/drawing/2014/main" id="{C3AB093D-0C30-A1AC-7F89-A636F73AF174}"/>
              </a:ext>
            </a:extLst>
          </p:cNvPr>
          <p:cNvSpPr>
            <a:spLocks noGrp="1"/>
          </p:cNvSpPr>
          <p:nvPr>
            <p:ph idx="1"/>
          </p:nvPr>
        </p:nvSpPr>
        <p:spPr/>
        <p:txBody>
          <a:bodyPr/>
          <a:lstStyle/>
          <a:p>
            <a:r>
              <a:rPr lang="en-US" b="0" i="0" dirty="0">
                <a:solidFill>
                  <a:srgbClr val="333333"/>
                </a:solidFill>
                <a:effectLst/>
                <a:latin typeface="CMS"/>
              </a:rPr>
              <a:t>I grew up in France… I speak fluent </a:t>
            </a:r>
            <a:r>
              <a:rPr lang="en-US" b="0" i="1" dirty="0">
                <a:solidFill>
                  <a:srgbClr val="FF0000"/>
                </a:solidFill>
                <a:effectLst/>
                <a:latin typeface="CMS"/>
              </a:rPr>
              <a:t>French</a:t>
            </a:r>
            <a:r>
              <a:rPr lang="en-US" b="0" i="0" dirty="0">
                <a:solidFill>
                  <a:srgbClr val="FF0000"/>
                </a:solidFill>
                <a:effectLst/>
                <a:latin typeface="CMS"/>
              </a:rPr>
              <a:t>.</a:t>
            </a:r>
            <a:endParaRPr lang="en-IN" dirty="0">
              <a:solidFill>
                <a:srgbClr val="FF0000"/>
              </a:solidFill>
            </a:endParaRPr>
          </a:p>
        </p:txBody>
      </p:sp>
      <p:sp>
        <p:nvSpPr>
          <p:cNvPr id="4" name="Left Brace 3">
            <a:extLst>
              <a:ext uri="{FF2B5EF4-FFF2-40B4-BE49-F238E27FC236}">
                <a16:creationId xmlns:a16="http://schemas.microsoft.com/office/drawing/2014/main" id="{58F7529A-1D6F-1B04-690D-DC180A4E70DA}"/>
              </a:ext>
            </a:extLst>
          </p:cNvPr>
          <p:cNvSpPr/>
          <p:nvPr/>
        </p:nvSpPr>
        <p:spPr>
          <a:xfrm rot="16200000">
            <a:off x="4901382" y="722671"/>
            <a:ext cx="580103" cy="3755920"/>
          </a:xfrm>
          <a:prstGeom prst="leftBrace">
            <a:avLst>
              <a:gd name="adj1" fmla="val 8333"/>
              <a:gd name="adj2" fmla="val 4828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 name="TextBox 4">
            <a:extLst>
              <a:ext uri="{FF2B5EF4-FFF2-40B4-BE49-F238E27FC236}">
                <a16:creationId xmlns:a16="http://schemas.microsoft.com/office/drawing/2014/main" id="{F4762F6B-18B3-B7B1-6C78-B6FC3A773706}"/>
              </a:ext>
            </a:extLst>
          </p:cNvPr>
          <p:cNvSpPr txBox="1"/>
          <p:nvPr/>
        </p:nvSpPr>
        <p:spPr>
          <a:xfrm>
            <a:off x="2624741" y="2729306"/>
            <a:ext cx="1102161" cy="646331"/>
          </a:xfrm>
          <a:prstGeom prst="rect">
            <a:avLst/>
          </a:prstGeom>
          <a:noFill/>
        </p:spPr>
        <p:txBody>
          <a:bodyPr wrap="none" rtlCol="0">
            <a:spAutoFit/>
          </a:bodyPr>
          <a:lstStyle/>
          <a:p>
            <a:pPr algn="ctr"/>
            <a:r>
              <a:rPr lang="en-IN" dirty="0"/>
              <a:t>Relevant </a:t>
            </a:r>
          </a:p>
          <a:p>
            <a:pPr algn="ctr"/>
            <a:r>
              <a:rPr lang="en-IN" dirty="0"/>
              <a:t>word</a:t>
            </a:r>
          </a:p>
        </p:txBody>
      </p:sp>
      <p:sp>
        <p:nvSpPr>
          <p:cNvPr id="6" name="TextBox 5">
            <a:extLst>
              <a:ext uri="{FF2B5EF4-FFF2-40B4-BE49-F238E27FC236}">
                <a16:creationId xmlns:a16="http://schemas.microsoft.com/office/drawing/2014/main" id="{1CE546A0-B9BA-13B0-EFE0-614DF009E8C3}"/>
              </a:ext>
            </a:extLst>
          </p:cNvPr>
          <p:cNvSpPr txBox="1"/>
          <p:nvPr/>
        </p:nvSpPr>
        <p:spPr>
          <a:xfrm>
            <a:off x="6474583" y="2729306"/>
            <a:ext cx="1189621" cy="646331"/>
          </a:xfrm>
          <a:prstGeom prst="rect">
            <a:avLst/>
          </a:prstGeom>
          <a:noFill/>
        </p:spPr>
        <p:txBody>
          <a:bodyPr wrap="none" rtlCol="0">
            <a:spAutoFit/>
          </a:bodyPr>
          <a:lstStyle/>
          <a:p>
            <a:pPr algn="ctr"/>
            <a:r>
              <a:rPr lang="en-IN" dirty="0"/>
              <a:t>Predicted </a:t>
            </a:r>
          </a:p>
          <a:p>
            <a:pPr algn="ctr"/>
            <a:r>
              <a:rPr lang="en-IN" dirty="0"/>
              <a:t>word</a:t>
            </a:r>
          </a:p>
        </p:txBody>
      </p:sp>
    </p:spTree>
    <p:extLst>
      <p:ext uri="{BB962C8B-B14F-4D97-AF65-F5344CB8AC3E}">
        <p14:creationId xmlns:p14="http://schemas.microsoft.com/office/powerpoint/2010/main" val="1240718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C46D2-0F4E-6E89-883A-D498E0A41941}"/>
              </a:ext>
            </a:extLst>
          </p:cNvPr>
          <p:cNvSpPr>
            <a:spLocks noGrp="1"/>
          </p:cNvSpPr>
          <p:nvPr>
            <p:ph type="title"/>
          </p:nvPr>
        </p:nvSpPr>
        <p:spPr/>
        <p:txBody>
          <a:bodyPr/>
          <a:lstStyle/>
          <a:p>
            <a:r>
              <a:rPr lang="en-IN" dirty="0"/>
              <a:t>LSTM</a:t>
            </a:r>
          </a:p>
        </p:txBody>
      </p:sp>
      <p:sp>
        <p:nvSpPr>
          <p:cNvPr id="3" name="Content Placeholder 2">
            <a:extLst>
              <a:ext uri="{FF2B5EF4-FFF2-40B4-BE49-F238E27FC236}">
                <a16:creationId xmlns:a16="http://schemas.microsoft.com/office/drawing/2014/main" id="{7816734D-9024-99D5-42F5-9178D7A33C83}"/>
              </a:ext>
            </a:extLst>
          </p:cNvPr>
          <p:cNvSpPr>
            <a:spLocks noGrp="1"/>
          </p:cNvSpPr>
          <p:nvPr>
            <p:ph idx="1"/>
          </p:nvPr>
        </p:nvSpPr>
        <p:spPr/>
        <p:txBody>
          <a:bodyPr/>
          <a:lstStyle/>
          <a:p>
            <a:r>
              <a:rPr lang="en-IN" dirty="0"/>
              <a:t>It is </a:t>
            </a:r>
            <a:r>
              <a:rPr lang="en-US" b="0" i="0" dirty="0">
                <a:solidFill>
                  <a:srgbClr val="333333"/>
                </a:solidFill>
                <a:effectLst/>
                <a:latin typeface="CMS"/>
              </a:rPr>
              <a:t>capable of learning long-term dependencies</a:t>
            </a:r>
          </a:p>
          <a:p>
            <a:r>
              <a:rPr lang="en-US" dirty="0">
                <a:solidFill>
                  <a:srgbClr val="333333"/>
                </a:solidFill>
                <a:latin typeface="CMS"/>
              </a:rPr>
              <a:t>It uses memory gates to remember long </a:t>
            </a:r>
            <a:r>
              <a:rPr lang="en-US" dirty="0" err="1">
                <a:solidFill>
                  <a:srgbClr val="333333"/>
                </a:solidFill>
                <a:latin typeface="CMS"/>
              </a:rPr>
              <a:t>senteneces</a:t>
            </a:r>
            <a:endParaRPr lang="en-IN" dirty="0"/>
          </a:p>
        </p:txBody>
      </p:sp>
    </p:spTree>
    <p:extLst>
      <p:ext uri="{BB962C8B-B14F-4D97-AF65-F5344CB8AC3E}">
        <p14:creationId xmlns:p14="http://schemas.microsoft.com/office/powerpoint/2010/main" val="1203968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89304-AE11-9A9D-DDA8-9B6283DFC0A5}"/>
              </a:ext>
            </a:extLst>
          </p:cNvPr>
          <p:cNvSpPr>
            <a:spLocks noGrp="1"/>
          </p:cNvSpPr>
          <p:nvPr>
            <p:ph type="title"/>
          </p:nvPr>
        </p:nvSpPr>
        <p:spPr/>
        <p:txBody>
          <a:bodyPr/>
          <a:lstStyle/>
          <a:p>
            <a:r>
              <a:rPr lang="en-IN" dirty="0"/>
              <a:t>Bi-LSTM</a:t>
            </a:r>
          </a:p>
        </p:txBody>
      </p:sp>
      <p:sp>
        <p:nvSpPr>
          <p:cNvPr id="3" name="Content Placeholder 2">
            <a:extLst>
              <a:ext uri="{FF2B5EF4-FFF2-40B4-BE49-F238E27FC236}">
                <a16:creationId xmlns:a16="http://schemas.microsoft.com/office/drawing/2014/main" id="{C9E9A770-CF86-2B93-B3AF-C4992289F932}"/>
              </a:ext>
            </a:extLst>
          </p:cNvPr>
          <p:cNvSpPr>
            <a:spLocks noGrp="1"/>
          </p:cNvSpPr>
          <p:nvPr>
            <p:ph idx="1"/>
          </p:nvPr>
        </p:nvSpPr>
        <p:spPr>
          <a:xfrm>
            <a:off x="975852" y="3429000"/>
            <a:ext cx="10515600" cy="642272"/>
          </a:xfrm>
        </p:spPr>
        <p:txBody>
          <a:bodyPr/>
          <a:lstStyle/>
          <a:p>
            <a:pPr marL="0" indent="0">
              <a:buNone/>
            </a:pPr>
            <a:r>
              <a:rPr lang="en-US" b="0" i="0" dirty="0">
                <a:solidFill>
                  <a:srgbClr val="333333"/>
                </a:solidFill>
                <a:effectLst/>
                <a:latin typeface="CMS"/>
              </a:rPr>
              <a:t>I grew up in France… I speak fluent </a:t>
            </a:r>
            <a:r>
              <a:rPr lang="en-US" b="0" i="1" dirty="0">
                <a:solidFill>
                  <a:srgbClr val="FF0000"/>
                </a:solidFill>
                <a:effectLst/>
                <a:latin typeface="CMS"/>
              </a:rPr>
              <a:t>French</a:t>
            </a:r>
            <a:r>
              <a:rPr lang="en-US" b="0" i="0" dirty="0">
                <a:solidFill>
                  <a:srgbClr val="FF0000"/>
                </a:solidFill>
                <a:effectLst/>
                <a:latin typeface="CMS"/>
              </a:rPr>
              <a:t>.</a:t>
            </a:r>
            <a:endParaRPr lang="en-IN" dirty="0">
              <a:solidFill>
                <a:srgbClr val="FF0000"/>
              </a:solidFill>
            </a:endParaRPr>
          </a:p>
          <a:p>
            <a:endParaRPr lang="en-IN" dirty="0"/>
          </a:p>
        </p:txBody>
      </p:sp>
      <p:sp>
        <p:nvSpPr>
          <p:cNvPr id="4" name="Arrow: Right 3">
            <a:extLst>
              <a:ext uri="{FF2B5EF4-FFF2-40B4-BE49-F238E27FC236}">
                <a16:creationId xmlns:a16="http://schemas.microsoft.com/office/drawing/2014/main" id="{23D51D6A-1CCE-926C-F749-5D31C8FCC6A9}"/>
              </a:ext>
            </a:extLst>
          </p:cNvPr>
          <p:cNvSpPr/>
          <p:nvPr/>
        </p:nvSpPr>
        <p:spPr>
          <a:xfrm>
            <a:off x="1052051" y="2939845"/>
            <a:ext cx="6282813" cy="2846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BD965549-086C-5371-8E6E-42A9848BF29D}"/>
              </a:ext>
            </a:extLst>
          </p:cNvPr>
          <p:cNvSpPr/>
          <p:nvPr/>
        </p:nvSpPr>
        <p:spPr>
          <a:xfrm rot="10800000">
            <a:off x="1052051" y="4071272"/>
            <a:ext cx="6282813" cy="2846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14528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FB1FD-5430-53B9-C0E5-CBBBD5D878A5}"/>
              </a:ext>
            </a:extLst>
          </p:cNvPr>
          <p:cNvSpPr>
            <a:spLocks noGrp="1"/>
          </p:cNvSpPr>
          <p:nvPr>
            <p:ph type="title"/>
          </p:nvPr>
        </p:nvSpPr>
        <p:spPr/>
        <p:txBody>
          <a:bodyPr/>
          <a:lstStyle/>
          <a:p>
            <a:r>
              <a:rPr lang="en-IN" dirty="0"/>
              <a:t>Encoder-Decoder</a:t>
            </a:r>
          </a:p>
        </p:txBody>
      </p:sp>
      <p:pic>
        <p:nvPicPr>
          <p:cNvPr id="4" name="Content Placeholder 4" descr="A diagram of a student&#10;&#10;Description automatically generated">
            <a:extLst>
              <a:ext uri="{FF2B5EF4-FFF2-40B4-BE49-F238E27FC236}">
                <a16:creationId xmlns:a16="http://schemas.microsoft.com/office/drawing/2014/main" id="{8EC85B00-9119-C0B8-EE35-55722D5EE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5946" y="1825625"/>
            <a:ext cx="6940108" cy="4351338"/>
          </a:xfrm>
          <a:prstGeom prst="rect">
            <a:avLst/>
          </a:prstGeom>
        </p:spPr>
      </p:pic>
    </p:spTree>
    <p:extLst>
      <p:ext uri="{BB962C8B-B14F-4D97-AF65-F5344CB8AC3E}">
        <p14:creationId xmlns:p14="http://schemas.microsoft.com/office/powerpoint/2010/main" val="3477809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07808-66B1-BAF1-E195-0EBC90C5F33A}"/>
              </a:ext>
            </a:extLst>
          </p:cNvPr>
          <p:cNvSpPr>
            <a:spLocks noGrp="1"/>
          </p:cNvSpPr>
          <p:nvPr>
            <p:ph type="title"/>
          </p:nvPr>
        </p:nvSpPr>
        <p:spPr/>
        <p:txBody>
          <a:bodyPr/>
          <a:lstStyle/>
          <a:p>
            <a:r>
              <a:rPr lang="en-IN" dirty="0"/>
              <a:t>Attention</a:t>
            </a:r>
          </a:p>
        </p:txBody>
      </p:sp>
      <p:sp>
        <p:nvSpPr>
          <p:cNvPr id="3" name="Content Placeholder 2">
            <a:extLst>
              <a:ext uri="{FF2B5EF4-FFF2-40B4-BE49-F238E27FC236}">
                <a16:creationId xmlns:a16="http://schemas.microsoft.com/office/drawing/2014/main" id="{154BF8A5-9CB3-D9B1-7513-FA47EC2EA508}"/>
              </a:ext>
            </a:extLst>
          </p:cNvPr>
          <p:cNvSpPr>
            <a:spLocks noGrp="1"/>
          </p:cNvSpPr>
          <p:nvPr>
            <p:ph idx="1"/>
          </p:nvPr>
        </p:nvSpPr>
        <p:spPr/>
        <p:txBody>
          <a:bodyPr/>
          <a:lstStyle/>
          <a:p>
            <a:r>
              <a:rPr lang="en-US" dirty="0"/>
              <a:t>I am going to the market</a:t>
            </a:r>
            <a:endParaRPr lang="en-IN" dirty="0"/>
          </a:p>
        </p:txBody>
      </p:sp>
    </p:spTree>
    <p:extLst>
      <p:ext uri="{BB962C8B-B14F-4D97-AF65-F5344CB8AC3E}">
        <p14:creationId xmlns:p14="http://schemas.microsoft.com/office/powerpoint/2010/main" val="3549287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3068E-AB29-4997-597E-B6F4BC5118B5}"/>
              </a:ext>
            </a:extLst>
          </p:cNvPr>
          <p:cNvSpPr>
            <a:spLocks noGrp="1"/>
          </p:cNvSpPr>
          <p:nvPr>
            <p:ph type="title"/>
          </p:nvPr>
        </p:nvSpPr>
        <p:spPr/>
        <p:txBody>
          <a:bodyPr/>
          <a:lstStyle/>
          <a:p>
            <a:r>
              <a:rPr lang="en-IN" dirty="0"/>
              <a:t>History of Transformer</a:t>
            </a:r>
          </a:p>
        </p:txBody>
      </p:sp>
      <p:sp>
        <p:nvSpPr>
          <p:cNvPr id="3" name="Content Placeholder 2">
            <a:extLst>
              <a:ext uri="{FF2B5EF4-FFF2-40B4-BE49-F238E27FC236}">
                <a16:creationId xmlns:a16="http://schemas.microsoft.com/office/drawing/2014/main" id="{9D1C4DC9-31D8-9A95-8CBD-B0F5896F7BC3}"/>
              </a:ext>
            </a:extLst>
          </p:cNvPr>
          <p:cNvSpPr>
            <a:spLocks noGrp="1"/>
          </p:cNvSpPr>
          <p:nvPr>
            <p:ph idx="1"/>
          </p:nvPr>
        </p:nvSpPr>
        <p:spPr/>
        <p:txBody>
          <a:bodyPr/>
          <a:lstStyle/>
          <a:p>
            <a:r>
              <a:rPr lang="en-IN" dirty="0"/>
              <a:t>Launched by Google Brain in 2017</a:t>
            </a:r>
          </a:p>
          <a:p>
            <a:r>
              <a:rPr lang="en-IN" dirty="0"/>
              <a:t>The first research paper </a:t>
            </a:r>
            <a:r>
              <a:rPr lang="en-IN" dirty="0">
                <a:hlinkClick r:id="rId2"/>
              </a:rPr>
              <a:t>https://arxiv.org/pdf/1706.03762</a:t>
            </a:r>
            <a:endParaRPr lang="en-IN" dirty="0"/>
          </a:p>
          <a:p>
            <a:endParaRPr lang="en-IN" dirty="0"/>
          </a:p>
        </p:txBody>
      </p:sp>
    </p:spTree>
    <p:extLst>
      <p:ext uri="{BB962C8B-B14F-4D97-AF65-F5344CB8AC3E}">
        <p14:creationId xmlns:p14="http://schemas.microsoft.com/office/powerpoint/2010/main" val="2296772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1F12-69BE-8441-3C16-953FB4FDCF6A}"/>
              </a:ext>
            </a:extLst>
          </p:cNvPr>
          <p:cNvSpPr>
            <a:spLocks noGrp="1"/>
          </p:cNvSpPr>
          <p:nvPr>
            <p:ph type="title"/>
          </p:nvPr>
        </p:nvSpPr>
        <p:spPr/>
        <p:txBody>
          <a:bodyPr/>
          <a:lstStyle/>
          <a:p>
            <a:r>
              <a:rPr lang="en-IN" dirty="0"/>
              <a:t>Transformer</a:t>
            </a:r>
          </a:p>
        </p:txBody>
      </p:sp>
      <p:sp>
        <p:nvSpPr>
          <p:cNvPr id="3" name="Content Placeholder 2">
            <a:extLst>
              <a:ext uri="{FF2B5EF4-FFF2-40B4-BE49-F238E27FC236}">
                <a16:creationId xmlns:a16="http://schemas.microsoft.com/office/drawing/2014/main" id="{99B6A593-2A4A-AE91-E627-F97773528E3A}"/>
              </a:ext>
            </a:extLst>
          </p:cNvPr>
          <p:cNvSpPr>
            <a:spLocks noGrp="1"/>
          </p:cNvSpPr>
          <p:nvPr>
            <p:ph idx="1"/>
          </p:nvPr>
        </p:nvSpPr>
        <p:spPr/>
        <p:txBody>
          <a:bodyPr/>
          <a:lstStyle/>
          <a:p>
            <a:r>
              <a:rPr lang="en-IN" dirty="0"/>
              <a:t>It is a Seq2Seq model.</a:t>
            </a:r>
          </a:p>
        </p:txBody>
      </p:sp>
    </p:spTree>
    <p:extLst>
      <p:ext uri="{BB962C8B-B14F-4D97-AF65-F5344CB8AC3E}">
        <p14:creationId xmlns:p14="http://schemas.microsoft.com/office/powerpoint/2010/main" val="3332519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pplications&#10;&#10;Description automatically generated">
            <a:extLst>
              <a:ext uri="{FF2B5EF4-FFF2-40B4-BE49-F238E27FC236}">
                <a16:creationId xmlns:a16="http://schemas.microsoft.com/office/drawing/2014/main" id="{8F63B404-9E47-DFCA-7045-03B41FD62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402" y="785483"/>
            <a:ext cx="8725656" cy="5464013"/>
          </a:xfrm>
          <a:prstGeom prst="rect">
            <a:avLst/>
          </a:prstGeom>
        </p:spPr>
      </p:pic>
    </p:spTree>
    <p:extLst>
      <p:ext uri="{BB962C8B-B14F-4D97-AF65-F5344CB8AC3E}">
        <p14:creationId xmlns:p14="http://schemas.microsoft.com/office/powerpoint/2010/main" val="326145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282B-E2D1-F774-7B26-AF0716518089}"/>
              </a:ext>
            </a:extLst>
          </p:cNvPr>
          <p:cNvSpPr>
            <a:spLocks noGrp="1"/>
          </p:cNvSpPr>
          <p:nvPr>
            <p:ph type="title"/>
          </p:nvPr>
        </p:nvSpPr>
        <p:spPr/>
        <p:txBody>
          <a:bodyPr/>
          <a:lstStyle/>
          <a:p>
            <a:r>
              <a:rPr lang="en-IN" dirty="0"/>
              <a:t>Transformer Architecture Explained</a:t>
            </a:r>
          </a:p>
        </p:txBody>
      </p:sp>
      <p:pic>
        <p:nvPicPr>
          <p:cNvPr id="5" name="Content Placeholder 4" descr="A white rectangular card with red flames&#10;&#10;Description automatically generated">
            <a:extLst>
              <a:ext uri="{FF2B5EF4-FFF2-40B4-BE49-F238E27FC236}">
                <a16:creationId xmlns:a16="http://schemas.microsoft.com/office/drawing/2014/main" id="{80E07901-4E02-ECF3-E98D-839DB40B1F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629694"/>
            <a:ext cx="10515600" cy="2743200"/>
          </a:xfrm>
        </p:spPr>
      </p:pic>
    </p:spTree>
    <p:extLst>
      <p:ext uri="{BB962C8B-B14F-4D97-AF65-F5344CB8AC3E}">
        <p14:creationId xmlns:p14="http://schemas.microsoft.com/office/powerpoint/2010/main" val="305666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51A48-6A6B-144A-E061-C7451CC566E3}"/>
              </a:ext>
            </a:extLst>
          </p:cNvPr>
          <p:cNvSpPr>
            <a:spLocks noGrp="1"/>
          </p:cNvSpPr>
          <p:nvPr>
            <p:ph type="title"/>
          </p:nvPr>
        </p:nvSpPr>
        <p:spPr/>
        <p:txBody>
          <a:bodyPr/>
          <a:lstStyle/>
          <a:p>
            <a:r>
              <a:rPr lang="en-IN" dirty="0"/>
              <a:t>Transformer Architecture Explained</a:t>
            </a:r>
          </a:p>
        </p:txBody>
      </p:sp>
      <p:pic>
        <p:nvPicPr>
          <p:cNvPr id="5" name="Content Placeholder 4" descr="A diagram of a student&#10;&#10;Description automatically generated">
            <a:extLst>
              <a:ext uri="{FF2B5EF4-FFF2-40B4-BE49-F238E27FC236}">
                <a16:creationId xmlns:a16="http://schemas.microsoft.com/office/drawing/2014/main" id="{F9FA079F-A4FA-B099-D58B-76A36860F8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5946" y="1825625"/>
            <a:ext cx="6940108" cy="4351338"/>
          </a:xfrm>
        </p:spPr>
      </p:pic>
    </p:spTree>
    <p:extLst>
      <p:ext uri="{BB962C8B-B14F-4D97-AF65-F5344CB8AC3E}">
        <p14:creationId xmlns:p14="http://schemas.microsoft.com/office/powerpoint/2010/main" val="3733173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DE8E-024E-8641-3EC8-A65D6C796CE8}"/>
              </a:ext>
            </a:extLst>
          </p:cNvPr>
          <p:cNvSpPr>
            <a:spLocks noGrp="1"/>
          </p:cNvSpPr>
          <p:nvPr>
            <p:ph type="title"/>
          </p:nvPr>
        </p:nvSpPr>
        <p:spPr/>
        <p:txBody>
          <a:bodyPr/>
          <a:lstStyle/>
          <a:p>
            <a:r>
              <a:rPr lang="en-IN" dirty="0"/>
              <a:t>Transformer Architecture Explained</a:t>
            </a:r>
          </a:p>
        </p:txBody>
      </p:sp>
      <p:pic>
        <p:nvPicPr>
          <p:cNvPr id="5" name="Content Placeholder 4" descr="A diagram of a computer&#10;&#10;Description automatically generated">
            <a:extLst>
              <a:ext uri="{FF2B5EF4-FFF2-40B4-BE49-F238E27FC236}">
                <a16:creationId xmlns:a16="http://schemas.microsoft.com/office/drawing/2014/main" id="{3497F681-3A23-DAA4-2D66-CC1FEA8A7D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4304" y="1825625"/>
            <a:ext cx="6683391" cy="4351338"/>
          </a:xfrm>
        </p:spPr>
      </p:pic>
    </p:spTree>
    <p:extLst>
      <p:ext uri="{BB962C8B-B14F-4D97-AF65-F5344CB8AC3E}">
        <p14:creationId xmlns:p14="http://schemas.microsoft.com/office/powerpoint/2010/main" val="2563430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B8475-D865-279F-D5CC-30A95392F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61E85-B49B-7A5F-B860-31E2FDEC5F83}"/>
              </a:ext>
            </a:extLst>
          </p:cNvPr>
          <p:cNvSpPr>
            <a:spLocks noGrp="1"/>
          </p:cNvSpPr>
          <p:nvPr>
            <p:ph type="title"/>
          </p:nvPr>
        </p:nvSpPr>
        <p:spPr/>
        <p:txBody>
          <a:bodyPr/>
          <a:lstStyle/>
          <a:p>
            <a:r>
              <a:rPr lang="en-IN" dirty="0"/>
              <a:t>Transformer Architecture Explained</a:t>
            </a:r>
          </a:p>
        </p:txBody>
      </p:sp>
      <p:pic>
        <p:nvPicPr>
          <p:cNvPr id="5" name="Content Placeholder 4" descr="A diagram of a network&#10;&#10;Description automatically generated">
            <a:extLst>
              <a:ext uri="{FF2B5EF4-FFF2-40B4-BE49-F238E27FC236}">
                <a16:creationId xmlns:a16="http://schemas.microsoft.com/office/drawing/2014/main" id="{BF6ADDEA-7688-A7A8-FF10-971CDEC84E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4100" y="2043906"/>
            <a:ext cx="7543800" cy="3914775"/>
          </a:xfrm>
        </p:spPr>
      </p:pic>
    </p:spTree>
    <p:extLst>
      <p:ext uri="{BB962C8B-B14F-4D97-AF65-F5344CB8AC3E}">
        <p14:creationId xmlns:p14="http://schemas.microsoft.com/office/powerpoint/2010/main" val="434283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1AD4F-AA65-E376-A08E-2E00A2C81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853AF-B4CE-ECD9-EBC8-D03DDAF668B1}"/>
              </a:ext>
            </a:extLst>
          </p:cNvPr>
          <p:cNvSpPr>
            <a:spLocks noGrp="1"/>
          </p:cNvSpPr>
          <p:nvPr>
            <p:ph type="title"/>
          </p:nvPr>
        </p:nvSpPr>
        <p:spPr/>
        <p:txBody>
          <a:bodyPr/>
          <a:lstStyle/>
          <a:p>
            <a:r>
              <a:rPr lang="en-IN" dirty="0"/>
              <a:t>Transformer Architecture Explained</a:t>
            </a:r>
          </a:p>
        </p:txBody>
      </p:sp>
      <p:pic>
        <p:nvPicPr>
          <p:cNvPr id="7" name="Content Placeholder 6" descr="A diagram of a decoder&#10;&#10;Description automatically generated">
            <a:extLst>
              <a:ext uri="{FF2B5EF4-FFF2-40B4-BE49-F238E27FC236}">
                <a16:creationId xmlns:a16="http://schemas.microsoft.com/office/drawing/2014/main" id="{E439B304-B744-9EFD-690F-12B3655D3F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9762" y="2672556"/>
            <a:ext cx="8372475" cy="2657475"/>
          </a:xfrm>
        </p:spPr>
      </p:pic>
    </p:spTree>
    <p:extLst>
      <p:ext uri="{BB962C8B-B14F-4D97-AF65-F5344CB8AC3E}">
        <p14:creationId xmlns:p14="http://schemas.microsoft.com/office/powerpoint/2010/main" val="3452846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9EBA3-2207-1AC5-599D-B33717B06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DEBB3-875F-DC4E-5472-4408BAC6711D}"/>
              </a:ext>
            </a:extLst>
          </p:cNvPr>
          <p:cNvSpPr>
            <a:spLocks noGrp="1"/>
          </p:cNvSpPr>
          <p:nvPr>
            <p:ph type="title"/>
          </p:nvPr>
        </p:nvSpPr>
        <p:spPr/>
        <p:txBody>
          <a:bodyPr/>
          <a:lstStyle/>
          <a:p>
            <a:r>
              <a:rPr lang="en-IN" dirty="0"/>
              <a:t>Transformer Architecture Explained</a:t>
            </a:r>
          </a:p>
        </p:txBody>
      </p:sp>
      <p:pic>
        <p:nvPicPr>
          <p:cNvPr id="5" name="Content Placeholder 4">
            <a:extLst>
              <a:ext uri="{FF2B5EF4-FFF2-40B4-BE49-F238E27FC236}">
                <a16:creationId xmlns:a16="http://schemas.microsoft.com/office/drawing/2014/main" id="{7B27125C-71CE-C398-F455-030FD7AC11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2436" y="3065206"/>
            <a:ext cx="7848600" cy="942975"/>
          </a:xfrm>
        </p:spPr>
      </p:pic>
      <p:sp>
        <p:nvSpPr>
          <p:cNvPr id="7" name="TextBox 6">
            <a:extLst>
              <a:ext uri="{FF2B5EF4-FFF2-40B4-BE49-F238E27FC236}">
                <a16:creationId xmlns:a16="http://schemas.microsoft.com/office/drawing/2014/main" id="{4951D3E5-80E9-9B83-34B4-F0BF92A377DB}"/>
              </a:ext>
            </a:extLst>
          </p:cNvPr>
          <p:cNvSpPr txBox="1"/>
          <p:nvPr/>
        </p:nvSpPr>
        <p:spPr>
          <a:xfrm>
            <a:off x="2418736" y="4276636"/>
            <a:ext cx="6096000" cy="646331"/>
          </a:xfrm>
          <a:prstGeom prst="rect">
            <a:avLst/>
          </a:prstGeom>
          <a:noFill/>
        </p:spPr>
        <p:txBody>
          <a:bodyPr wrap="square">
            <a:spAutoFit/>
          </a:bodyPr>
          <a:lstStyle/>
          <a:p>
            <a:pPr algn="ctr" fontAlgn="base"/>
            <a:r>
              <a:rPr lang="en-US" b="0" i="0" dirty="0">
                <a:effectLst/>
                <a:latin typeface="Helvetica" panose="020B0604020202020204" pitchFamily="34" charset="0"/>
              </a:rPr>
              <a:t>Each word is embedded into a vector of size 512. We'll represent those vectors with these simple boxes.</a:t>
            </a:r>
          </a:p>
        </p:txBody>
      </p:sp>
    </p:spTree>
    <p:extLst>
      <p:ext uri="{BB962C8B-B14F-4D97-AF65-F5344CB8AC3E}">
        <p14:creationId xmlns:p14="http://schemas.microsoft.com/office/powerpoint/2010/main" val="2744163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4E547-7A49-8432-3BBB-C7B60320F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F0AF0-9691-54C3-05DE-FE83999BA30E}"/>
              </a:ext>
            </a:extLst>
          </p:cNvPr>
          <p:cNvSpPr>
            <a:spLocks noGrp="1"/>
          </p:cNvSpPr>
          <p:nvPr>
            <p:ph type="title"/>
          </p:nvPr>
        </p:nvSpPr>
        <p:spPr/>
        <p:txBody>
          <a:bodyPr/>
          <a:lstStyle/>
          <a:p>
            <a:r>
              <a:rPr lang="en-IN" dirty="0"/>
              <a:t>Transformer Architecture Explained</a:t>
            </a:r>
          </a:p>
        </p:txBody>
      </p:sp>
      <p:pic>
        <p:nvPicPr>
          <p:cNvPr id="5" name="Content Placeholder 4" descr="A diagram of a diagram&#10;&#10;Description automatically generated">
            <a:extLst>
              <a:ext uri="{FF2B5EF4-FFF2-40B4-BE49-F238E27FC236}">
                <a16:creationId xmlns:a16="http://schemas.microsoft.com/office/drawing/2014/main" id="{F6A8D1B6-CD6F-742A-2CFA-D0D09C0D5C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3963" y="1825625"/>
            <a:ext cx="6784074" cy="4351338"/>
          </a:xfrm>
        </p:spPr>
      </p:pic>
    </p:spTree>
    <p:extLst>
      <p:ext uri="{BB962C8B-B14F-4D97-AF65-F5344CB8AC3E}">
        <p14:creationId xmlns:p14="http://schemas.microsoft.com/office/powerpoint/2010/main" val="3033899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9FC2-9FB5-4275-18F7-ABC145467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E0C48-6F6D-8899-F9AF-E0C91E303E7F}"/>
              </a:ext>
            </a:extLst>
          </p:cNvPr>
          <p:cNvSpPr>
            <a:spLocks noGrp="1"/>
          </p:cNvSpPr>
          <p:nvPr>
            <p:ph type="title"/>
          </p:nvPr>
        </p:nvSpPr>
        <p:spPr/>
        <p:txBody>
          <a:bodyPr/>
          <a:lstStyle/>
          <a:p>
            <a:r>
              <a:rPr lang="en-IN" dirty="0"/>
              <a:t>Transformer Architecture Explained</a:t>
            </a:r>
          </a:p>
        </p:txBody>
      </p:sp>
      <p:pic>
        <p:nvPicPr>
          <p:cNvPr id="5" name="Content Placeholder 4" descr="A diagram of a network&#10;&#10;Description automatically generated">
            <a:extLst>
              <a:ext uri="{FF2B5EF4-FFF2-40B4-BE49-F238E27FC236}">
                <a16:creationId xmlns:a16="http://schemas.microsoft.com/office/drawing/2014/main" id="{CCAF700B-A946-E38D-8CDD-91390649D7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7857" y="1825625"/>
            <a:ext cx="7156286" cy="4351338"/>
          </a:xfrm>
        </p:spPr>
      </p:pic>
    </p:spTree>
    <p:extLst>
      <p:ext uri="{BB962C8B-B14F-4D97-AF65-F5344CB8AC3E}">
        <p14:creationId xmlns:p14="http://schemas.microsoft.com/office/powerpoint/2010/main" val="2835144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AC400-555F-B5CB-15FF-EF7034C92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EAD88-2684-9E8D-F2BB-2966C213EB73}"/>
              </a:ext>
            </a:extLst>
          </p:cNvPr>
          <p:cNvSpPr>
            <a:spLocks noGrp="1"/>
          </p:cNvSpPr>
          <p:nvPr>
            <p:ph type="title"/>
          </p:nvPr>
        </p:nvSpPr>
        <p:spPr/>
        <p:txBody>
          <a:bodyPr>
            <a:normAutofit/>
          </a:bodyPr>
          <a:lstStyle/>
          <a:p>
            <a:pPr algn="l" fontAlgn="base">
              <a:spcAft>
                <a:spcPts val="1125"/>
              </a:spcAft>
            </a:pPr>
            <a:r>
              <a:rPr lang="en-US" i="0" dirty="0">
                <a:solidFill>
                  <a:srgbClr val="222222"/>
                </a:solidFill>
                <a:effectLst/>
              </a:rPr>
              <a:t>Self-Attention at a High Level</a:t>
            </a:r>
            <a:endParaRPr lang="en-IN" dirty="0"/>
          </a:p>
        </p:txBody>
      </p:sp>
      <p:sp>
        <p:nvSpPr>
          <p:cNvPr id="4" name="Content Placeholder 3">
            <a:extLst>
              <a:ext uri="{FF2B5EF4-FFF2-40B4-BE49-F238E27FC236}">
                <a16:creationId xmlns:a16="http://schemas.microsoft.com/office/drawing/2014/main" id="{306D84B6-3AA3-1B43-2C16-8695245D8EF6}"/>
              </a:ext>
            </a:extLst>
          </p:cNvPr>
          <p:cNvSpPr>
            <a:spLocks noGrp="1"/>
          </p:cNvSpPr>
          <p:nvPr>
            <p:ph idx="1"/>
          </p:nvPr>
        </p:nvSpPr>
        <p:spPr/>
        <p:txBody>
          <a:bodyPr>
            <a:noAutofit/>
          </a:bodyPr>
          <a:lstStyle/>
          <a:p>
            <a:r>
              <a:rPr lang="en-US" sz="2400" dirty="0">
                <a:solidFill>
                  <a:srgbClr val="C00000"/>
                </a:solidFill>
                <a:latin typeface="+mj-lt"/>
              </a:rPr>
              <a:t>”The animal didn't cross the street because it was too tired”.</a:t>
            </a:r>
          </a:p>
          <a:p>
            <a:endParaRPr lang="en-US" sz="2400" dirty="0">
              <a:latin typeface="+mj-lt"/>
            </a:endParaRPr>
          </a:p>
          <a:p>
            <a:r>
              <a:rPr lang="en-US" sz="2400" b="0" i="0" dirty="0">
                <a:solidFill>
                  <a:srgbClr val="222222"/>
                </a:solidFill>
                <a:effectLst/>
                <a:latin typeface="+mj-lt"/>
              </a:rPr>
              <a:t>What does “it” in this sentence refer to? Is it referring to the street or to the animal?</a:t>
            </a:r>
          </a:p>
          <a:p>
            <a:endParaRPr lang="en-US" sz="2400" dirty="0">
              <a:solidFill>
                <a:srgbClr val="222222"/>
              </a:solidFill>
              <a:latin typeface="+mj-lt"/>
            </a:endParaRPr>
          </a:p>
          <a:p>
            <a:pPr algn="l" fontAlgn="base">
              <a:spcBef>
                <a:spcPts val="1125"/>
              </a:spcBef>
              <a:spcAft>
                <a:spcPts val="1125"/>
              </a:spcAft>
            </a:pPr>
            <a:r>
              <a:rPr lang="en-US" sz="2400" b="0" i="0" dirty="0">
                <a:solidFill>
                  <a:srgbClr val="222222"/>
                </a:solidFill>
                <a:effectLst/>
                <a:latin typeface="+mj-lt"/>
              </a:rPr>
              <a:t>When the model is processing the word “it”, self-attention allows it to associate “it” with “animal”.</a:t>
            </a:r>
          </a:p>
          <a:p>
            <a:pPr algn="l" fontAlgn="base">
              <a:spcBef>
                <a:spcPts val="1125"/>
              </a:spcBef>
              <a:spcAft>
                <a:spcPts val="1125"/>
              </a:spcAft>
            </a:pPr>
            <a:r>
              <a:rPr lang="en-US" sz="2400" b="0" i="0" dirty="0">
                <a:solidFill>
                  <a:srgbClr val="222222"/>
                </a:solidFill>
                <a:effectLst/>
                <a:latin typeface="+mj-lt"/>
              </a:rPr>
              <a:t>As the model processes each word (each position in the input sequence), self attention allows it to look at other positions in the input sequence for clues that can help lead to a better encoding for this word.</a:t>
            </a:r>
            <a:br>
              <a:rPr lang="en-US" sz="2400" dirty="0">
                <a:latin typeface="+mj-lt"/>
              </a:rPr>
            </a:br>
            <a:endParaRPr lang="en-IN" sz="2400" dirty="0">
              <a:latin typeface="+mj-lt"/>
            </a:endParaRPr>
          </a:p>
        </p:txBody>
      </p:sp>
    </p:spTree>
    <p:extLst>
      <p:ext uri="{BB962C8B-B14F-4D97-AF65-F5344CB8AC3E}">
        <p14:creationId xmlns:p14="http://schemas.microsoft.com/office/powerpoint/2010/main" val="262231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5899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58999"/>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900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5900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2F23-98CC-C1F4-E055-EE1134317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31DCE-8751-B750-7D58-E67F2A053730}"/>
              </a:ext>
            </a:extLst>
          </p:cNvPr>
          <p:cNvSpPr>
            <a:spLocks noGrp="1"/>
          </p:cNvSpPr>
          <p:nvPr>
            <p:ph type="title"/>
          </p:nvPr>
        </p:nvSpPr>
        <p:spPr/>
        <p:txBody>
          <a:bodyPr>
            <a:normAutofit/>
          </a:bodyPr>
          <a:lstStyle/>
          <a:p>
            <a:r>
              <a:rPr lang="en-US" sz="4000" dirty="0"/>
              <a:t>Step 1: Input Sequence and Word Embeddings</a:t>
            </a:r>
          </a:p>
        </p:txBody>
      </p:sp>
      <p:sp>
        <p:nvSpPr>
          <p:cNvPr id="4" name="Content Placeholder 3">
            <a:extLst>
              <a:ext uri="{FF2B5EF4-FFF2-40B4-BE49-F238E27FC236}">
                <a16:creationId xmlns:a16="http://schemas.microsoft.com/office/drawing/2014/main" id="{226A27D1-7675-CC71-9880-9F8285F60BBD}"/>
              </a:ext>
            </a:extLst>
          </p:cNvPr>
          <p:cNvSpPr>
            <a:spLocks noGrp="1"/>
          </p:cNvSpPr>
          <p:nvPr>
            <p:ph idx="1"/>
          </p:nvPr>
        </p:nvSpPr>
        <p:spPr/>
        <p:txBody>
          <a:bodyPr/>
          <a:lstStyle/>
          <a:p>
            <a:r>
              <a:rPr lang="en-US" dirty="0"/>
              <a:t>Imagine we have a sequence of 2 words: “Thinking Machine".</a:t>
            </a:r>
          </a:p>
          <a:p>
            <a:endParaRPr lang="en-IN" dirty="0"/>
          </a:p>
        </p:txBody>
      </p:sp>
      <p:pic>
        <p:nvPicPr>
          <p:cNvPr id="7" name="Picture 6" descr="A math equations and numbers&#10;&#10;Description automatically generated with medium confidence">
            <a:extLst>
              <a:ext uri="{FF2B5EF4-FFF2-40B4-BE49-F238E27FC236}">
                <a16:creationId xmlns:a16="http://schemas.microsoft.com/office/drawing/2014/main" id="{586A9DD1-9D2F-4F91-0AB8-491D51C0C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6349" y="3202163"/>
            <a:ext cx="7362415" cy="2460889"/>
          </a:xfrm>
          <a:prstGeom prst="rect">
            <a:avLst/>
          </a:prstGeom>
        </p:spPr>
      </p:pic>
    </p:spTree>
    <p:extLst>
      <p:ext uri="{BB962C8B-B14F-4D97-AF65-F5344CB8AC3E}">
        <p14:creationId xmlns:p14="http://schemas.microsoft.com/office/powerpoint/2010/main" val="4095401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A026-0C80-61C3-5A57-9159361CF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B8E81-348B-0BF1-AD4C-07FD1C08B5CC}"/>
              </a:ext>
            </a:extLst>
          </p:cNvPr>
          <p:cNvSpPr>
            <a:spLocks noGrp="1"/>
          </p:cNvSpPr>
          <p:nvPr>
            <p:ph type="title"/>
          </p:nvPr>
        </p:nvSpPr>
        <p:spPr/>
        <p:txBody>
          <a:bodyPr/>
          <a:lstStyle/>
          <a:p>
            <a:r>
              <a:rPr lang="en-US" i="0" dirty="0">
                <a:solidFill>
                  <a:srgbClr val="222222"/>
                </a:solidFill>
                <a:effectLst/>
              </a:rPr>
              <a:t>Self-Attention at a High Level (Math)</a:t>
            </a:r>
            <a:endParaRPr lang="en-IN" dirty="0"/>
          </a:p>
        </p:txBody>
      </p:sp>
      <p:sp>
        <p:nvSpPr>
          <p:cNvPr id="4" name="Content Placeholder 3">
            <a:extLst>
              <a:ext uri="{FF2B5EF4-FFF2-40B4-BE49-F238E27FC236}">
                <a16:creationId xmlns:a16="http://schemas.microsoft.com/office/drawing/2014/main" id="{ABB3ABE3-1798-00AC-D970-E781CDDC89CF}"/>
              </a:ext>
            </a:extLst>
          </p:cNvPr>
          <p:cNvSpPr>
            <a:spLocks noGrp="1"/>
          </p:cNvSpPr>
          <p:nvPr>
            <p:ph idx="1"/>
          </p:nvPr>
        </p:nvSpPr>
        <p:spPr/>
        <p:txBody>
          <a:bodyPr>
            <a:normAutofit/>
          </a:bodyPr>
          <a:lstStyle/>
          <a:p>
            <a:r>
              <a:rPr lang="en-US" sz="2400" b="0" i="0" dirty="0">
                <a:solidFill>
                  <a:srgbClr val="222222"/>
                </a:solidFill>
                <a:effectLst/>
              </a:rPr>
              <a:t>So, for each word, we create a Query vector, a Key vector, and a Value vector.</a:t>
            </a:r>
            <a:endParaRPr lang="en-IN" sz="2400" dirty="0"/>
          </a:p>
        </p:txBody>
      </p:sp>
      <p:pic>
        <p:nvPicPr>
          <p:cNvPr id="5" name="Picture 4" descr="A screenshot of a computer&#10;&#10;Description automatically generated">
            <a:extLst>
              <a:ext uri="{FF2B5EF4-FFF2-40B4-BE49-F238E27FC236}">
                <a16:creationId xmlns:a16="http://schemas.microsoft.com/office/drawing/2014/main" id="{CB445445-CD8D-D505-49CF-4BCEB4BA4B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713" y="2439824"/>
            <a:ext cx="6424673" cy="4053051"/>
          </a:xfrm>
          <a:prstGeom prst="rect">
            <a:avLst/>
          </a:prstGeom>
        </p:spPr>
      </p:pic>
    </p:spTree>
    <p:extLst>
      <p:ext uri="{BB962C8B-B14F-4D97-AF65-F5344CB8AC3E}">
        <p14:creationId xmlns:p14="http://schemas.microsoft.com/office/powerpoint/2010/main" val="90602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A749-E3BA-46BC-FE88-899EAB0693A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F81621A-6C5F-F859-892A-92C44280963F}"/>
              </a:ext>
            </a:extLst>
          </p:cNvPr>
          <p:cNvSpPr>
            <a:spLocks noGrp="1"/>
          </p:cNvSpPr>
          <p:nvPr>
            <p:ph idx="1"/>
          </p:nvPr>
        </p:nvSpPr>
        <p:spPr/>
        <p:txBody>
          <a:bodyPr/>
          <a:lstStyle/>
          <a:p>
            <a:r>
              <a:rPr lang="en-US" dirty="0"/>
              <a:t>Let’s assume the following weight matrices for simplicity:</a:t>
            </a:r>
            <a:endParaRPr lang="en-IN" dirty="0"/>
          </a:p>
        </p:txBody>
      </p:sp>
      <p:pic>
        <p:nvPicPr>
          <p:cNvPr id="5" name="Picture 4" descr="A black and white screen with numbers and symbols&#10;&#10;Description automatically generated">
            <a:extLst>
              <a:ext uri="{FF2B5EF4-FFF2-40B4-BE49-F238E27FC236}">
                <a16:creationId xmlns:a16="http://schemas.microsoft.com/office/drawing/2014/main" id="{A607D0BA-B6C7-0CD4-319B-0AF5C5A4D22B}"/>
              </a:ext>
            </a:extLst>
          </p:cNvPr>
          <p:cNvPicPr>
            <a:picLocks noChangeAspect="1"/>
          </p:cNvPicPr>
          <p:nvPr/>
        </p:nvPicPr>
        <p:blipFill>
          <a:blip r:embed="rId2">
            <a:extLst>
              <a:ext uri="{28A0092B-C50C-407E-A947-70E740481C1C}">
                <a14:useLocalDpi xmlns:a14="http://schemas.microsoft.com/office/drawing/2010/main" val="0"/>
              </a:ext>
            </a:extLst>
          </a:blip>
          <a:srcRect b="46085"/>
          <a:stretch/>
        </p:blipFill>
        <p:spPr>
          <a:xfrm>
            <a:off x="2574335" y="3554521"/>
            <a:ext cx="6515665" cy="1076474"/>
          </a:xfrm>
          <a:prstGeom prst="rect">
            <a:avLst/>
          </a:prstGeom>
        </p:spPr>
      </p:pic>
    </p:spTree>
    <p:extLst>
      <p:ext uri="{BB962C8B-B14F-4D97-AF65-F5344CB8AC3E}">
        <p14:creationId xmlns:p14="http://schemas.microsoft.com/office/powerpoint/2010/main" val="3231870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8FD0-08B9-0D42-909A-FD1F4FC9E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81487-1DD6-138D-EBB2-1A98C2ADCF21}"/>
              </a:ext>
            </a:extLst>
          </p:cNvPr>
          <p:cNvSpPr>
            <a:spLocks noGrp="1"/>
          </p:cNvSpPr>
          <p:nvPr>
            <p:ph type="title"/>
          </p:nvPr>
        </p:nvSpPr>
        <p:spPr/>
        <p:txBody>
          <a:bodyPr>
            <a:normAutofit/>
          </a:bodyPr>
          <a:lstStyle/>
          <a:p>
            <a:r>
              <a:rPr lang="en-IN" sz="4000" dirty="0"/>
              <a:t>Step 2- </a:t>
            </a:r>
            <a:r>
              <a:rPr lang="en-US" sz="4000" dirty="0"/>
              <a:t>Calculate Query (Q), Key (K), and Value (V)</a:t>
            </a:r>
            <a:endParaRPr lang="en-IN" sz="4000" dirty="0"/>
          </a:p>
        </p:txBody>
      </p:sp>
      <p:sp>
        <p:nvSpPr>
          <p:cNvPr id="4" name="Content Placeholder 3">
            <a:extLst>
              <a:ext uri="{FF2B5EF4-FFF2-40B4-BE49-F238E27FC236}">
                <a16:creationId xmlns:a16="http://schemas.microsoft.com/office/drawing/2014/main" id="{D5FDCA28-BF09-1859-8D47-A8A31B969B2B}"/>
              </a:ext>
            </a:extLst>
          </p:cNvPr>
          <p:cNvSpPr>
            <a:spLocks noGrp="1"/>
          </p:cNvSpPr>
          <p:nvPr>
            <p:ph idx="1"/>
          </p:nvPr>
        </p:nvSpPr>
        <p:spPr/>
        <p:txBody>
          <a:bodyPr>
            <a:normAutofit/>
          </a:bodyPr>
          <a:lstStyle/>
          <a:p>
            <a:r>
              <a:rPr lang="en-US" sz="2400" dirty="0"/>
              <a:t>We multiply the input matrix X by these weight matrices to obtain the Query (Q), Key (K), and Value (V) matrices.</a:t>
            </a:r>
            <a:endParaRPr lang="en-IN" sz="2400" dirty="0"/>
          </a:p>
        </p:txBody>
      </p:sp>
      <p:pic>
        <p:nvPicPr>
          <p:cNvPr id="7" name="Picture 6" descr="A white sheet with black text and numbers&#10;&#10;Description automatically generated">
            <a:extLst>
              <a:ext uri="{FF2B5EF4-FFF2-40B4-BE49-F238E27FC236}">
                <a16:creationId xmlns:a16="http://schemas.microsoft.com/office/drawing/2014/main" id="{C1ED4A64-79C1-FA35-72E0-3AA6A3AAB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2672" y="2836317"/>
            <a:ext cx="5886655" cy="3475583"/>
          </a:xfrm>
          <a:prstGeom prst="rect">
            <a:avLst/>
          </a:prstGeom>
        </p:spPr>
      </p:pic>
    </p:spTree>
    <p:extLst>
      <p:ext uri="{BB962C8B-B14F-4D97-AF65-F5344CB8AC3E}">
        <p14:creationId xmlns:p14="http://schemas.microsoft.com/office/powerpoint/2010/main" val="3499747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4403-9299-CF74-0C5F-80F7000A2A69}"/>
            </a:ext>
          </a:extLst>
        </p:cNvPr>
        <p:cNvGrpSpPr/>
        <p:nvPr/>
      </p:nvGrpSpPr>
      <p:grpSpPr>
        <a:xfrm>
          <a:off x="0" y="0"/>
          <a:ext cx="0" cy="0"/>
          <a:chOff x="0" y="0"/>
          <a:chExt cx="0" cy="0"/>
        </a:xfrm>
      </p:grpSpPr>
      <p:pic>
        <p:nvPicPr>
          <p:cNvPr id="5" name="Content Placeholder 4" descr="A math equations on a white background&#10;&#10;Description automatically generated">
            <a:extLst>
              <a:ext uri="{FF2B5EF4-FFF2-40B4-BE49-F238E27FC236}">
                <a16:creationId xmlns:a16="http://schemas.microsoft.com/office/drawing/2014/main" id="{B243B116-4A80-ECD6-B63D-E50748C700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9138" y="1179871"/>
            <a:ext cx="8128137" cy="5073445"/>
          </a:xfrm>
        </p:spPr>
      </p:pic>
    </p:spTree>
    <p:extLst>
      <p:ext uri="{BB962C8B-B14F-4D97-AF65-F5344CB8AC3E}">
        <p14:creationId xmlns:p14="http://schemas.microsoft.com/office/powerpoint/2010/main" val="673770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019C-ABEE-EB11-549E-361487AF047B}"/>
            </a:ext>
          </a:extLst>
        </p:cNvPr>
        <p:cNvGrpSpPr/>
        <p:nvPr/>
      </p:nvGrpSpPr>
      <p:grpSpPr>
        <a:xfrm>
          <a:off x="0" y="0"/>
          <a:ext cx="0" cy="0"/>
          <a:chOff x="0" y="0"/>
          <a:chExt cx="0" cy="0"/>
        </a:xfrm>
      </p:grpSpPr>
      <p:pic>
        <p:nvPicPr>
          <p:cNvPr id="5" name="Content Placeholder 4" descr="A screenshot of a math problem&#10;&#10;Description automatically generated">
            <a:extLst>
              <a:ext uri="{FF2B5EF4-FFF2-40B4-BE49-F238E27FC236}">
                <a16:creationId xmlns:a16="http://schemas.microsoft.com/office/drawing/2014/main" id="{963FCCD9-A876-4D12-E0F3-E5FC590D8F4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6624"/>
          <a:stretch/>
        </p:blipFill>
        <p:spPr>
          <a:xfrm>
            <a:off x="2226224" y="1130710"/>
            <a:ext cx="7944100" cy="4827639"/>
          </a:xfrm>
        </p:spPr>
      </p:pic>
    </p:spTree>
    <p:extLst>
      <p:ext uri="{BB962C8B-B14F-4D97-AF65-F5344CB8AC3E}">
        <p14:creationId xmlns:p14="http://schemas.microsoft.com/office/powerpoint/2010/main" val="449566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BB7B-510C-9EEC-394A-A8C050AD20E4}"/>
              </a:ext>
            </a:extLst>
          </p:cNvPr>
          <p:cNvSpPr>
            <a:spLocks noGrp="1"/>
          </p:cNvSpPr>
          <p:nvPr>
            <p:ph type="title"/>
          </p:nvPr>
        </p:nvSpPr>
        <p:spPr/>
        <p:txBody>
          <a:bodyPr/>
          <a:lstStyle/>
          <a:p>
            <a:r>
              <a:rPr lang="en-IN" b="1" dirty="0"/>
              <a:t>Step 3: Compute Attention Scores</a:t>
            </a:r>
            <a:endParaRPr lang="en-IN" dirty="0"/>
          </a:p>
        </p:txBody>
      </p:sp>
      <p:pic>
        <p:nvPicPr>
          <p:cNvPr id="5" name="Content Placeholder 4" descr="A math equations with numbers&#10;&#10;Description automatically generated with medium confidence">
            <a:extLst>
              <a:ext uri="{FF2B5EF4-FFF2-40B4-BE49-F238E27FC236}">
                <a16:creationId xmlns:a16="http://schemas.microsoft.com/office/drawing/2014/main" id="{63BE3763-B011-A10A-DBAF-0E4CFBC6F3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2354" y="2909998"/>
            <a:ext cx="8457166" cy="1862238"/>
          </a:xfrm>
        </p:spPr>
      </p:pic>
    </p:spTree>
    <p:extLst>
      <p:ext uri="{BB962C8B-B14F-4D97-AF65-F5344CB8AC3E}">
        <p14:creationId xmlns:p14="http://schemas.microsoft.com/office/powerpoint/2010/main" val="1332437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5B01-9696-289C-E75B-08BB1F1EC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EE4D5-FE3E-807D-B493-CA3E65BAA723}"/>
              </a:ext>
            </a:extLst>
          </p:cNvPr>
          <p:cNvSpPr>
            <a:spLocks noGrp="1"/>
          </p:cNvSpPr>
          <p:nvPr>
            <p:ph type="title"/>
          </p:nvPr>
        </p:nvSpPr>
        <p:spPr/>
        <p:txBody>
          <a:bodyPr/>
          <a:lstStyle/>
          <a:p>
            <a:r>
              <a:rPr lang="en-IN" b="1"/>
              <a:t>Step 3: Compute Attention Scores</a:t>
            </a:r>
            <a:endParaRPr lang="en-IN" dirty="0"/>
          </a:p>
        </p:txBody>
      </p:sp>
      <p:pic>
        <p:nvPicPr>
          <p:cNvPr id="13" name="Content Placeholder 6" descr="A table of mathematical equations&#10;&#10;Description automatically generated">
            <a:extLst>
              <a:ext uri="{FF2B5EF4-FFF2-40B4-BE49-F238E27FC236}">
                <a16:creationId xmlns:a16="http://schemas.microsoft.com/office/drawing/2014/main" id="{6DC9A234-2E1E-2E39-D7F0-4013EEC94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622" y="2006673"/>
            <a:ext cx="10905066" cy="4062135"/>
          </a:xfrm>
          <a:prstGeom prst="rect">
            <a:avLst/>
          </a:prstGeom>
        </p:spPr>
      </p:pic>
    </p:spTree>
    <p:extLst>
      <p:ext uri="{BB962C8B-B14F-4D97-AF65-F5344CB8AC3E}">
        <p14:creationId xmlns:p14="http://schemas.microsoft.com/office/powerpoint/2010/main" val="437690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C1AC-5563-7DB2-80EC-648FCB57F2B1}"/>
              </a:ext>
            </a:extLst>
          </p:cNvPr>
          <p:cNvSpPr>
            <a:spLocks noGrp="1"/>
          </p:cNvSpPr>
          <p:nvPr>
            <p:ph type="title"/>
          </p:nvPr>
        </p:nvSpPr>
        <p:spPr/>
        <p:txBody>
          <a:bodyPr>
            <a:normAutofit/>
          </a:bodyPr>
          <a:lstStyle/>
          <a:p>
            <a:r>
              <a:rPr lang="en-US" sz="4000" b="1" dirty="0"/>
              <a:t>Step 4: Apply SoftMax to Get Attention Weights</a:t>
            </a:r>
            <a:endParaRPr lang="en-IN" sz="4000" dirty="0"/>
          </a:p>
        </p:txBody>
      </p:sp>
      <p:pic>
        <p:nvPicPr>
          <p:cNvPr id="5" name="Content Placeholder 4" descr="A screenshot of a math formula&#10;&#10;Description automatically generated">
            <a:extLst>
              <a:ext uri="{FF2B5EF4-FFF2-40B4-BE49-F238E27FC236}">
                <a16:creationId xmlns:a16="http://schemas.microsoft.com/office/drawing/2014/main" id="{3D86F5F1-446E-0D1A-3332-A452992112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2680" y="2016948"/>
            <a:ext cx="7406640" cy="4627860"/>
          </a:xfrm>
        </p:spPr>
      </p:pic>
    </p:spTree>
    <p:extLst>
      <p:ext uri="{BB962C8B-B14F-4D97-AF65-F5344CB8AC3E}">
        <p14:creationId xmlns:p14="http://schemas.microsoft.com/office/powerpoint/2010/main" val="1771473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0E074-AB86-A36C-5E3A-504406DF916A}"/>
              </a:ext>
            </a:extLst>
          </p:cNvPr>
          <p:cNvSpPr>
            <a:spLocks noGrp="1"/>
          </p:cNvSpPr>
          <p:nvPr>
            <p:ph type="title"/>
          </p:nvPr>
        </p:nvSpPr>
        <p:spPr/>
        <p:txBody>
          <a:bodyPr/>
          <a:lstStyle/>
          <a:p>
            <a:r>
              <a:rPr lang="en-US" b="1" dirty="0"/>
              <a:t>Step 5: Compute Weighted Sum of Values</a:t>
            </a:r>
            <a:endParaRPr lang="en-IN" dirty="0"/>
          </a:p>
        </p:txBody>
      </p:sp>
      <p:pic>
        <p:nvPicPr>
          <p:cNvPr id="5" name="Content Placeholder 4" descr="A white background with black and white text&#10;&#10;Description automatically generated">
            <a:extLst>
              <a:ext uri="{FF2B5EF4-FFF2-40B4-BE49-F238E27FC236}">
                <a16:creationId xmlns:a16="http://schemas.microsoft.com/office/drawing/2014/main" id="{50CD7A13-D8A8-9D13-481A-C9E556BA2B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422" y="2687742"/>
            <a:ext cx="11533123" cy="2595458"/>
          </a:xfrm>
        </p:spPr>
      </p:pic>
    </p:spTree>
    <p:extLst>
      <p:ext uri="{BB962C8B-B14F-4D97-AF65-F5344CB8AC3E}">
        <p14:creationId xmlns:p14="http://schemas.microsoft.com/office/powerpoint/2010/main" val="2621172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2002-CE12-658C-3C26-19FB8A71C259}"/>
              </a:ext>
            </a:extLst>
          </p:cNvPr>
          <p:cNvSpPr>
            <a:spLocks noGrp="1"/>
          </p:cNvSpPr>
          <p:nvPr>
            <p:ph type="title"/>
          </p:nvPr>
        </p:nvSpPr>
        <p:spPr/>
        <p:txBody>
          <a:bodyPr>
            <a:normAutofit/>
          </a:bodyPr>
          <a:lstStyle/>
          <a:p>
            <a:pPr fontAlgn="base">
              <a:spcAft>
                <a:spcPts val="1125"/>
              </a:spcAft>
            </a:pPr>
            <a:r>
              <a:rPr lang="en-US" b="1" i="0">
                <a:solidFill>
                  <a:srgbClr val="222222"/>
                </a:solidFill>
                <a:effectLst/>
                <a:latin typeface="Helvetica Neue"/>
              </a:rPr>
              <a:t>The Beast With Many Heads</a:t>
            </a:r>
            <a:endParaRPr lang="en-IN" dirty="0"/>
          </a:p>
        </p:txBody>
      </p:sp>
      <p:sp>
        <p:nvSpPr>
          <p:cNvPr id="3" name="Content Placeholder 2">
            <a:extLst>
              <a:ext uri="{FF2B5EF4-FFF2-40B4-BE49-F238E27FC236}">
                <a16:creationId xmlns:a16="http://schemas.microsoft.com/office/drawing/2014/main" id="{E510E16B-3C69-675D-70EF-54F34E20CE38}"/>
              </a:ext>
            </a:extLst>
          </p:cNvPr>
          <p:cNvSpPr>
            <a:spLocks noGrp="1"/>
          </p:cNvSpPr>
          <p:nvPr>
            <p:ph idx="1"/>
          </p:nvPr>
        </p:nvSpPr>
        <p:spPr/>
        <p:txBody>
          <a:bodyPr>
            <a:normAutofit/>
          </a:bodyPr>
          <a:lstStyle/>
          <a:p>
            <a:pPr marL="0" indent="0">
              <a:buNone/>
            </a:pPr>
            <a:r>
              <a:rPr lang="en-IN" sz="2400" dirty="0" err="1"/>
              <a:t>Multihead</a:t>
            </a:r>
            <a:r>
              <a:rPr lang="en-IN" sz="2400" dirty="0"/>
              <a:t> Attention</a:t>
            </a:r>
          </a:p>
          <a:p>
            <a:endParaRPr lang="en-IN" sz="2400" dirty="0"/>
          </a:p>
          <a:p>
            <a:r>
              <a:rPr lang="en-US" sz="2400" dirty="0"/>
              <a:t>Imagine you have several pairs of glasses (attention heads) that let you look at a sentence in different ways.</a:t>
            </a:r>
          </a:p>
          <a:p>
            <a:r>
              <a:rPr lang="en-US" sz="2400" dirty="0"/>
              <a:t> Each pair of glasses helps you focus on different parts of the sentence, so you understand it better. </a:t>
            </a:r>
          </a:p>
          <a:p>
            <a:r>
              <a:rPr lang="en-US" sz="2400" dirty="0"/>
              <a:t>Multi-headed attention means the model uses several of these "glasses" to get a more complete understanding of the sentence!</a:t>
            </a:r>
          </a:p>
          <a:p>
            <a:endParaRPr lang="en-IN" sz="2400" dirty="0"/>
          </a:p>
        </p:txBody>
      </p:sp>
      <p:pic>
        <p:nvPicPr>
          <p:cNvPr id="5" name="Picture 4" descr="A cartoon of a three headed monster&#10;&#10;Description automatically generated">
            <a:extLst>
              <a:ext uri="{FF2B5EF4-FFF2-40B4-BE49-F238E27FC236}">
                <a16:creationId xmlns:a16="http://schemas.microsoft.com/office/drawing/2014/main" id="{47D8D678-6C9F-057B-A270-4385C1BAA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0"/>
            <a:ext cx="1995948" cy="1995948"/>
          </a:xfrm>
          <a:prstGeom prst="rect">
            <a:avLst/>
          </a:prstGeom>
        </p:spPr>
      </p:pic>
    </p:spTree>
    <p:extLst>
      <p:ext uri="{BB962C8B-B14F-4D97-AF65-F5344CB8AC3E}">
        <p14:creationId xmlns:p14="http://schemas.microsoft.com/office/powerpoint/2010/main" val="3403563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9616C-BFA9-334D-B8C7-5DB260C59545}"/>
              </a:ext>
            </a:extLst>
          </p:cNvPr>
          <p:cNvSpPr>
            <a:spLocks noGrp="1"/>
          </p:cNvSpPr>
          <p:nvPr>
            <p:ph type="title"/>
          </p:nvPr>
        </p:nvSpPr>
        <p:spPr/>
        <p:txBody>
          <a:bodyPr>
            <a:normAutofit/>
          </a:bodyPr>
          <a:lstStyle/>
          <a:p>
            <a:r>
              <a:rPr lang="en-US" dirty="0"/>
              <a:t>Representation Subspaces</a:t>
            </a:r>
            <a:endParaRPr lang="en-IN" dirty="0"/>
          </a:p>
        </p:txBody>
      </p:sp>
      <p:sp>
        <p:nvSpPr>
          <p:cNvPr id="3" name="Content Placeholder 2">
            <a:extLst>
              <a:ext uri="{FF2B5EF4-FFF2-40B4-BE49-F238E27FC236}">
                <a16:creationId xmlns:a16="http://schemas.microsoft.com/office/drawing/2014/main" id="{2A06D101-AF75-1596-2D24-459E2C661ECA}"/>
              </a:ext>
            </a:extLst>
          </p:cNvPr>
          <p:cNvSpPr>
            <a:spLocks noGrp="1"/>
          </p:cNvSpPr>
          <p:nvPr>
            <p:ph idx="1"/>
          </p:nvPr>
        </p:nvSpPr>
        <p:spPr/>
        <p:txBody>
          <a:bodyPr>
            <a:normAutofit/>
          </a:bodyPr>
          <a:lstStyle/>
          <a:p>
            <a:r>
              <a:rPr lang="en-US" sz="2400" dirty="0"/>
              <a:t>Now, when you use those multiple pairs of glasses (or attention heads), you're looking at the sentence through </a:t>
            </a:r>
            <a:r>
              <a:rPr lang="en-US" sz="2400" b="1" dirty="0"/>
              <a:t>different lenses</a:t>
            </a:r>
            <a:r>
              <a:rPr lang="en-US" sz="2400" dirty="0"/>
              <a:t>. Each lens gives you a different "view" of the words. So, </a:t>
            </a:r>
            <a:r>
              <a:rPr lang="en-US" sz="2400" b="1" dirty="0"/>
              <a:t>each attention head</a:t>
            </a:r>
            <a:r>
              <a:rPr lang="en-US" sz="2400" dirty="0"/>
              <a:t> will help the model understand the sentence from a different "subspace" or perspective.</a:t>
            </a:r>
          </a:p>
          <a:p>
            <a:endParaRPr lang="en-US" sz="2400" dirty="0"/>
          </a:p>
          <a:p>
            <a:endParaRPr lang="en-US" sz="2400" dirty="0"/>
          </a:p>
          <a:p>
            <a:r>
              <a:rPr lang="en-US" sz="2400" dirty="0"/>
              <a:t>So, when we talk about </a:t>
            </a:r>
            <a:r>
              <a:rPr lang="en-US" sz="2400" b="1" dirty="0"/>
              <a:t>representation subspaces</a:t>
            </a:r>
            <a:r>
              <a:rPr lang="en-US" sz="2400" dirty="0"/>
              <a:t>, think of it like the different ways or dimensions in which the model tries to understand the sentence. Each attention head works in one of these subspaces, which gives the model </a:t>
            </a:r>
            <a:r>
              <a:rPr lang="en-US" sz="2400" b="1" dirty="0"/>
              <a:t>more ways to focus on different parts of the sentence</a:t>
            </a:r>
            <a:r>
              <a:rPr lang="en-US" sz="2400" dirty="0"/>
              <a:t>.</a:t>
            </a:r>
          </a:p>
          <a:p>
            <a:endParaRPr lang="en-IN" sz="2400" dirty="0"/>
          </a:p>
        </p:txBody>
      </p:sp>
    </p:spTree>
    <p:extLst>
      <p:ext uri="{BB962C8B-B14F-4D97-AF65-F5344CB8AC3E}">
        <p14:creationId xmlns:p14="http://schemas.microsoft.com/office/powerpoint/2010/main" val="200343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A1D0-11C7-F2DA-0D6E-534212736F11}"/>
              </a:ext>
            </a:extLst>
          </p:cNvPr>
          <p:cNvSpPr>
            <a:spLocks noGrp="1"/>
          </p:cNvSpPr>
          <p:nvPr>
            <p:ph type="title"/>
          </p:nvPr>
        </p:nvSpPr>
        <p:spPr/>
        <p:txBody>
          <a:bodyPr/>
          <a:lstStyle/>
          <a:p>
            <a:r>
              <a:rPr lang="en-IN" dirty="0"/>
              <a:t>Positional Encoding</a:t>
            </a:r>
          </a:p>
        </p:txBody>
      </p:sp>
      <p:sp>
        <p:nvSpPr>
          <p:cNvPr id="3" name="Content Placeholder 2">
            <a:extLst>
              <a:ext uri="{FF2B5EF4-FFF2-40B4-BE49-F238E27FC236}">
                <a16:creationId xmlns:a16="http://schemas.microsoft.com/office/drawing/2014/main" id="{A671CA91-B47B-FD69-ECB5-CC1C0CB27D6A}"/>
              </a:ext>
            </a:extLst>
          </p:cNvPr>
          <p:cNvSpPr>
            <a:spLocks noGrp="1"/>
          </p:cNvSpPr>
          <p:nvPr>
            <p:ph idx="1"/>
          </p:nvPr>
        </p:nvSpPr>
        <p:spPr/>
        <p:txBody>
          <a:bodyPr/>
          <a:lstStyle/>
          <a:p>
            <a:r>
              <a:rPr lang="en-US" sz="2400" dirty="0"/>
              <a:t>Transformers don't process words in order like older models. So, they add </a:t>
            </a:r>
            <a:r>
              <a:rPr lang="en-US" sz="2400" b="1" dirty="0"/>
              <a:t>positional encoding</a:t>
            </a:r>
            <a:r>
              <a:rPr lang="en-US" sz="2400" dirty="0"/>
              <a:t> to each word, which tells the model the order of the words. This helps the model understand that "I" comes before "love" in the sentence.</a:t>
            </a:r>
          </a:p>
          <a:p>
            <a:endParaRPr lang="en-IN" dirty="0"/>
          </a:p>
        </p:txBody>
      </p:sp>
    </p:spTree>
    <p:extLst>
      <p:ext uri="{BB962C8B-B14F-4D97-AF65-F5344CB8AC3E}">
        <p14:creationId xmlns:p14="http://schemas.microsoft.com/office/powerpoint/2010/main" val="4237180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6ADF2-21AD-F89B-B514-88DBA9573FF1}"/>
              </a:ext>
            </a:extLst>
          </p:cNvPr>
          <p:cNvSpPr>
            <a:spLocks noGrp="1"/>
          </p:cNvSpPr>
          <p:nvPr>
            <p:ph type="title"/>
          </p:nvPr>
        </p:nvSpPr>
        <p:spPr/>
        <p:txBody>
          <a:bodyPr/>
          <a:lstStyle/>
          <a:p>
            <a:r>
              <a:rPr lang="en-IN" dirty="0"/>
              <a:t>Add and Norm</a:t>
            </a:r>
          </a:p>
        </p:txBody>
      </p:sp>
      <p:sp>
        <p:nvSpPr>
          <p:cNvPr id="3" name="Content Placeholder 2">
            <a:extLst>
              <a:ext uri="{FF2B5EF4-FFF2-40B4-BE49-F238E27FC236}">
                <a16:creationId xmlns:a16="http://schemas.microsoft.com/office/drawing/2014/main" id="{1870E53A-8382-8811-4346-341C1422E3A9}"/>
              </a:ext>
            </a:extLst>
          </p:cNvPr>
          <p:cNvSpPr>
            <a:spLocks noGrp="1"/>
          </p:cNvSpPr>
          <p:nvPr>
            <p:ph idx="1"/>
          </p:nvPr>
        </p:nvSpPr>
        <p:spPr/>
        <p:txBody>
          <a:bodyPr>
            <a:normAutofit/>
          </a:bodyPr>
          <a:lstStyle/>
          <a:p>
            <a:r>
              <a:rPr lang="en-US" sz="2400" dirty="0"/>
              <a:t>Residual connections (Add) are added between the input and output of each sub-layer (like attention and feed-forward layers).</a:t>
            </a:r>
          </a:p>
          <a:p>
            <a:endParaRPr lang="en-US" sz="2400" dirty="0"/>
          </a:p>
          <a:p>
            <a:endParaRPr lang="en-US" sz="2400" dirty="0"/>
          </a:p>
          <a:p>
            <a:r>
              <a:rPr lang="en-US" sz="2400" dirty="0"/>
              <a:t>Residual connection-----When you're walking through a maze (the neural network layers), instead of only following the path in front of you (just the output of the current layer), </a:t>
            </a:r>
          </a:p>
          <a:p>
            <a:r>
              <a:rPr lang="en-US" sz="2400" dirty="0"/>
              <a:t>you can also go back a few steps to where you started (the input). This helps you not lose any important information and makes it easier to find your way out (i.e., to make better predictions).</a:t>
            </a:r>
            <a:endParaRPr lang="en-IN" sz="2400" dirty="0"/>
          </a:p>
        </p:txBody>
      </p:sp>
    </p:spTree>
    <p:extLst>
      <p:ext uri="{BB962C8B-B14F-4D97-AF65-F5344CB8AC3E}">
        <p14:creationId xmlns:p14="http://schemas.microsoft.com/office/powerpoint/2010/main" val="114588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C637B-AF1A-81A7-E4B1-2D528722EFF0}"/>
              </a:ext>
            </a:extLst>
          </p:cNvPr>
          <p:cNvSpPr>
            <a:spLocks noGrp="1"/>
          </p:cNvSpPr>
          <p:nvPr>
            <p:ph type="title"/>
          </p:nvPr>
        </p:nvSpPr>
        <p:spPr/>
        <p:txBody>
          <a:bodyPr/>
          <a:lstStyle/>
          <a:p>
            <a:r>
              <a:rPr lang="en-IN" dirty="0"/>
              <a:t>Norm</a:t>
            </a:r>
          </a:p>
        </p:txBody>
      </p:sp>
      <p:sp>
        <p:nvSpPr>
          <p:cNvPr id="3" name="Content Placeholder 2">
            <a:extLst>
              <a:ext uri="{FF2B5EF4-FFF2-40B4-BE49-F238E27FC236}">
                <a16:creationId xmlns:a16="http://schemas.microsoft.com/office/drawing/2014/main" id="{2DC629B4-83F1-1E34-A6E2-79916E2C4D46}"/>
              </a:ext>
            </a:extLst>
          </p:cNvPr>
          <p:cNvSpPr>
            <a:spLocks noGrp="1"/>
          </p:cNvSpPr>
          <p:nvPr>
            <p:ph idx="1"/>
          </p:nvPr>
        </p:nvSpPr>
        <p:spPr/>
        <p:txBody>
          <a:bodyPr/>
          <a:lstStyle/>
          <a:p>
            <a:r>
              <a:rPr lang="en-US" b="1" dirty="0"/>
              <a:t>Layer normalization</a:t>
            </a:r>
            <a:r>
              <a:rPr lang="en-US" dirty="0"/>
              <a:t> is applied after adding the residual connection. It normalizes the output of each sub-layer so that the values across each layer have a mean of 0 and a variance of 1.</a:t>
            </a:r>
            <a:endParaRPr lang="en-IN" dirty="0"/>
          </a:p>
        </p:txBody>
      </p:sp>
    </p:spTree>
    <p:extLst>
      <p:ext uri="{BB962C8B-B14F-4D97-AF65-F5344CB8AC3E}">
        <p14:creationId xmlns:p14="http://schemas.microsoft.com/office/powerpoint/2010/main" val="2755381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F7D2-3830-CC9B-3AA0-A39ADEF20672}"/>
              </a:ext>
            </a:extLst>
          </p:cNvPr>
          <p:cNvSpPr>
            <a:spLocks noGrp="1"/>
          </p:cNvSpPr>
          <p:nvPr>
            <p:ph type="title"/>
          </p:nvPr>
        </p:nvSpPr>
        <p:spPr/>
        <p:txBody>
          <a:bodyPr/>
          <a:lstStyle/>
          <a:p>
            <a:r>
              <a:rPr lang="en-IN" dirty="0"/>
              <a:t>SoftMax</a:t>
            </a:r>
          </a:p>
        </p:txBody>
      </p:sp>
      <p:sp>
        <p:nvSpPr>
          <p:cNvPr id="3" name="Content Placeholder 2">
            <a:extLst>
              <a:ext uri="{FF2B5EF4-FFF2-40B4-BE49-F238E27FC236}">
                <a16:creationId xmlns:a16="http://schemas.microsoft.com/office/drawing/2014/main" id="{41B6D10D-8DB2-10E8-F25B-E1693C8DCEA6}"/>
              </a:ext>
            </a:extLst>
          </p:cNvPr>
          <p:cNvSpPr>
            <a:spLocks noGrp="1"/>
          </p:cNvSpPr>
          <p:nvPr>
            <p:ph idx="1"/>
          </p:nvPr>
        </p:nvSpPr>
        <p:spPr/>
        <p:txBody>
          <a:bodyPr/>
          <a:lstStyle/>
          <a:p>
            <a:r>
              <a:rPr lang="en-IN" dirty="0"/>
              <a:t>Red (0.1)</a:t>
            </a:r>
          </a:p>
          <a:p>
            <a:r>
              <a:rPr lang="en-IN" dirty="0"/>
              <a:t>Green (0.6)</a:t>
            </a:r>
          </a:p>
          <a:p>
            <a:r>
              <a:rPr lang="en-IN" dirty="0"/>
              <a:t>Blue (0.3)</a:t>
            </a:r>
          </a:p>
        </p:txBody>
      </p:sp>
    </p:spTree>
    <p:extLst>
      <p:ext uri="{BB962C8B-B14F-4D97-AF65-F5344CB8AC3E}">
        <p14:creationId xmlns:p14="http://schemas.microsoft.com/office/powerpoint/2010/main" val="3838721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software algorithm&#10;&#10;Description automatically generated">
            <a:extLst>
              <a:ext uri="{FF2B5EF4-FFF2-40B4-BE49-F238E27FC236}">
                <a16:creationId xmlns:a16="http://schemas.microsoft.com/office/drawing/2014/main" id="{2D83DB91-E436-66E8-3CC1-30565E1336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8880" y="354828"/>
            <a:ext cx="4418503" cy="6148344"/>
          </a:xfrm>
        </p:spPr>
      </p:pic>
    </p:spTree>
    <p:extLst>
      <p:ext uri="{BB962C8B-B14F-4D97-AF65-F5344CB8AC3E}">
        <p14:creationId xmlns:p14="http://schemas.microsoft.com/office/powerpoint/2010/main" val="2221848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6437-BB07-F8F7-056A-7099ECE1BA4E}"/>
              </a:ext>
            </a:extLst>
          </p:cNvPr>
          <p:cNvSpPr>
            <a:spLocks noGrp="1"/>
          </p:cNvSpPr>
          <p:nvPr>
            <p:ph type="title"/>
          </p:nvPr>
        </p:nvSpPr>
        <p:spPr/>
        <p:txBody>
          <a:bodyPr/>
          <a:lstStyle/>
          <a:p>
            <a:r>
              <a:rPr lang="en-IN" dirty="0"/>
              <a:t>Encoder (Bert)</a:t>
            </a:r>
          </a:p>
        </p:txBody>
      </p:sp>
      <p:sp>
        <p:nvSpPr>
          <p:cNvPr id="3" name="Content Placeholder 2">
            <a:extLst>
              <a:ext uri="{FF2B5EF4-FFF2-40B4-BE49-F238E27FC236}">
                <a16:creationId xmlns:a16="http://schemas.microsoft.com/office/drawing/2014/main" id="{87C99397-372A-69AC-2199-A585CABAA218}"/>
              </a:ext>
            </a:extLst>
          </p:cNvPr>
          <p:cNvSpPr>
            <a:spLocks noGrp="1"/>
          </p:cNvSpPr>
          <p:nvPr>
            <p:ph idx="1"/>
          </p:nvPr>
        </p:nvSpPr>
        <p:spPr/>
        <p:txBody>
          <a:bodyPr/>
          <a:lstStyle/>
          <a:p>
            <a:r>
              <a:rPr lang="en-IN" dirty="0"/>
              <a:t>Language Translation</a:t>
            </a:r>
          </a:p>
          <a:p>
            <a:r>
              <a:rPr lang="en-IN" dirty="0"/>
              <a:t>Sentiment Analysis</a:t>
            </a:r>
          </a:p>
          <a:p>
            <a:r>
              <a:rPr lang="en-IN" dirty="0"/>
              <a:t>Named Entity recognition</a:t>
            </a:r>
          </a:p>
          <a:p>
            <a:r>
              <a:rPr lang="en-IN" dirty="0"/>
              <a:t>Question Answering</a:t>
            </a:r>
          </a:p>
        </p:txBody>
      </p:sp>
    </p:spTree>
    <p:extLst>
      <p:ext uri="{BB962C8B-B14F-4D97-AF65-F5344CB8AC3E}">
        <p14:creationId xmlns:p14="http://schemas.microsoft.com/office/powerpoint/2010/main" val="12074385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B68F-7A96-6751-BB92-52A3437CC2D5}"/>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7A96E528-A3BB-D43F-C046-20AD6AEF8212}"/>
              </a:ext>
            </a:extLst>
          </p:cNvPr>
          <p:cNvSpPr>
            <a:spLocks noGrp="1"/>
          </p:cNvSpPr>
          <p:nvPr>
            <p:ph idx="1"/>
          </p:nvPr>
        </p:nvSpPr>
        <p:spPr/>
        <p:txBody>
          <a:bodyPr/>
          <a:lstStyle/>
          <a:p>
            <a:r>
              <a:rPr lang="en-IN" dirty="0"/>
              <a:t>https://chatgpt.com/share/67a1d1ab-00b4-8008-847f-beba9019be7a</a:t>
            </a:r>
          </a:p>
        </p:txBody>
      </p:sp>
    </p:spTree>
    <p:extLst>
      <p:ext uri="{BB962C8B-B14F-4D97-AF65-F5344CB8AC3E}">
        <p14:creationId xmlns:p14="http://schemas.microsoft.com/office/powerpoint/2010/main" val="3310479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791</Words>
  <Application>Microsoft Office PowerPoint</Application>
  <PresentationFormat>Widescreen</PresentationFormat>
  <Paragraphs>87</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Aptos Display</vt:lpstr>
      <vt:lpstr>Arial</vt:lpstr>
      <vt:lpstr>CMS</vt:lpstr>
      <vt:lpstr>Helvetica</vt:lpstr>
      <vt:lpstr>Helvetica Neue</vt:lpstr>
      <vt:lpstr>Office Theme</vt:lpstr>
      <vt:lpstr>Transformer</vt:lpstr>
      <vt:lpstr>PowerPoint Presentation</vt:lpstr>
      <vt:lpstr>RNN</vt:lpstr>
      <vt:lpstr>RNN</vt:lpstr>
      <vt:lpstr>Problems with RNN</vt:lpstr>
      <vt:lpstr>LSTM</vt:lpstr>
      <vt:lpstr>Bi-LSTM</vt:lpstr>
      <vt:lpstr>Encoder-Decoder</vt:lpstr>
      <vt:lpstr>Attention</vt:lpstr>
      <vt:lpstr>History of Transformer</vt:lpstr>
      <vt:lpstr>Transformer</vt:lpstr>
      <vt:lpstr>PowerPoint Presentation</vt:lpstr>
      <vt:lpstr>Transformer Architecture Explained</vt:lpstr>
      <vt:lpstr>Transformer Architecture Explained</vt:lpstr>
      <vt:lpstr>Transformer Architecture Explained</vt:lpstr>
      <vt:lpstr>Transformer Architecture Explained</vt:lpstr>
      <vt:lpstr>Transformer Architecture Explained</vt:lpstr>
      <vt:lpstr>Transformer Architecture Explained</vt:lpstr>
      <vt:lpstr>Transformer Architecture Explained</vt:lpstr>
      <vt:lpstr>Transformer Architecture Explained</vt:lpstr>
      <vt:lpstr>Self-Attention at a High Level</vt:lpstr>
      <vt:lpstr>Step 1: Input Sequence and Word Embeddings</vt:lpstr>
      <vt:lpstr>Self-Attention at a High Level (Math)</vt:lpstr>
      <vt:lpstr>PowerPoint Presentation</vt:lpstr>
      <vt:lpstr>Step 2- Calculate Query (Q), Key (K), and Value (V)</vt:lpstr>
      <vt:lpstr>PowerPoint Presentation</vt:lpstr>
      <vt:lpstr>PowerPoint Presentation</vt:lpstr>
      <vt:lpstr>Step 3: Compute Attention Scores</vt:lpstr>
      <vt:lpstr>Step 3: Compute Attention Scores</vt:lpstr>
      <vt:lpstr>Step 4: Apply SoftMax to Get Attention Weights</vt:lpstr>
      <vt:lpstr>Step 5: Compute Weighted Sum of Values</vt:lpstr>
      <vt:lpstr>The Beast With Many Heads</vt:lpstr>
      <vt:lpstr>Representation Subspaces</vt:lpstr>
      <vt:lpstr>Positional Encoding</vt:lpstr>
      <vt:lpstr>Add and Norm</vt:lpstr>
      <vt:lpstr>Norm</vt:lpstr>
      <vt:lpstr>SoftMax</vt:lpstr>
      <vt:lpstr>PowerPoint Presentation</vt:lpstr>
      <vt:lpstr>Encoder (Bert)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Kumar Singh</dc:creator>
  <cp:lastModifiedBy>Abhishek Singh</cp:lastModifiedBy>
  <cp:revision>21</cp:revision>
  <dcterms:created xsi:type="dcterms:W3CDTF">2025-02-04T07:02:20Z</dcterms:created>
  <dcterms:modified xsi:type="dcterms:W3CDTF">2025-07-06T06:24:29Z</dcterms:modified>
</cp:coreProperties>
</file>