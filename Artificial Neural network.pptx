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85" r:id="rId3"/>
    <p:sldId id="288" r:id="rId4"/>
    <p:sldId id="287" r:id="rId5"/>
    <p:sldId id="258" r:id="rId6"/>
    <p:sldId id="259" r:id="rId7"/>
    <p:sldId id="263" r:id="rId8"/>
    <p:sldId id="289" r:id="rId9"/>
    <p:sldId id="290" r:id="rId10"/>
    <p:sldId id="286" r:id="rId11"/>
    <p:sldId id="291" r:id="rId12"/>
    <p:sldId id="264" r:id="rId13"/>
    <p:sldId id="265" r:id="rId14"/>
    <p:sldId id="294" r:id="rId15"/>
    <p:sldId id="292" r:id="rId16"/>
    <p:sldId id="29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4T15:29:27.403"/>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823FCD-E650-4FFC-AC18-94841C2E9A91}" type="datetimeFigureOut">
              <a:rPr lang="en-IN" smtClean="0"/>
              <a:t>29-04-2025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65247-D9D4-4322-95CB-B4375819D609}" type="slidenum">
              <a:rPr lang="en-IN" smtClean="0"/>
              <a:t>‹#›</a:t>
            </a:fld>
            <a:endParaRPr lang="en-IN"/>
          </a:p>
        </p:txBody>
      </p:sp>
    </p:spTree>
    <p:extLst>
      <p:ext uri="{BB962C8B-B14F-4D97-AF65-F5344CB8AC3E}">
        <p14:creationId xmlns:p14="http://schemas.microsoft.com/office/powerpoint/2010/main" val="20948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Imagine You’re Playing a Game:</a:t>
            </a:r>
          </a:p>
          <a:p>
            <a:pPr>
              <a:buFont typeface="+mj-lt"/>
              <a:buAutoNum type="arabicPeriod"/>
            </a:pPr>
            <a:r>
              <a:rPr lang="en-US" b="1" dirty="0"/>
              <a:t> You make a guess</a:t>
            </a:r>
            <a:r>
              <a:rPr lang="en-US" dirty="0"/>
              <a:t>: You’re trying to guess the score of a game based on a few clues. You make a guess, but it's not quite right.</a:t>
            </a:r>
          </a:p>
          <a:p>
            <a:r>
              <a:rPr lang="en-US" b="1" dirty="0"/>
              <a:t>2. You find out how wrong you were</a:t>
            </a:r>
            <a:r>
              <a:rPr lang="en-US" dirty="0"/>
              <a:t>: After you make your guess, someone tells you how far off you were from the actual score. For example, if the score was 50 but you guessed 30, you know you were off by 20.</a:t>
            </a:r>
          </a:p>
          <a:p>
            <a:r>
              <a:rPr lang="en-US" b="1" dirty="0"/>
              <a:t>3. You adjust your guess-making process</a:t>
            </a:r>
            <a:r>
              <a:rPr lang="en-US" dirty="0"/>
              <a:t>: Now that you know how far off you were, you try to adjust your strategy so you make better guesses in the future. You take what you learned from this mistake and apply it next time.</a:t>
            </a:r>
          </a:p>
          <a:p>
            <a:endParaRPr lang="en-IN" dirty="0"/>
          </a:p>
        </p:txBody>
      </p:sp>
      <p:sp>
        <p:nvSpPr>
          <p:cNvPr id="4" name="Slide Number Placeholder 3"/>
          <p:cNvSpPr>
            <a:spLocks noGrp="1"/>
          </p:cNvSpPr>
          <p:nvPr>
            <p:ph type="sldNum" sz="quarter" idx="5"/>
          </p:nvPr>
        </p:nvSpPr>
        <p:spPr/>
        <p:txBody>
          <a:bodyPr/>
          <a:lstStyle/>
          <a:p>
            <a:fld id="{2F165247-D9D4-4322-95CB-B4375819D609}" type="slidenum">
              <a:rPr lang="en-IN" smtClean="0"/>
              <a:t>15</a:t>
            </a:fld>
            <a:endParaRPr lang="en-IN"/>
          </a:p>
        </p:txBody>
      </p:sp>
    </p:spTree>
    <p:extLst>
      <p:ext uri="{BB962C8B-B14F-4D97-AF65-F5344CB8AC3E}">
        <p14:creationId xmlns:p14="http://schemas.microsoft.com/office/powerpoint/2010/main" val="2657478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7E718-16AD-E3C3-3284-21EC365225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58491DC-EE11-9E3B-DB06-E13933E263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A5783F-F89B-D79C-103D-09175F017137}"/>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5" name="Footer Placeholder 4">
            <a:extLst>
              <a:ext uri="{FF2B5EF4-FFF2-40B4-BE49-F238E27FC236}">
                <a16:creationId xmlns:a16="http://schemas.microsoft.com/office/drawing/2014/main" id="{C19B4978-2266-AD12-3FD4-26BC9206DA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50B62A-4FCB-2754-3795-82E17B88DFDE}"/>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647775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D438-538C-C869-9554-2A732C2C01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97B148-E7FB-B77C-9B0A-CC704FAE6D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904921-1010-814B-1C97-A1B146D31700}"/>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5" name="Footer Placeholder 4">
            <a:extLst>
              <a:ext uri="{FF2B5EF4-FFF2-40B4-BE49-F238E27FC236}">
                <a16:creationId xmlns:a16="http://schemas.microsoft.com/office/drawing/2014/main" id="{4B6876A4-1473-CCF5-8805-28F4F59C8F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FFC7C2-109C-6CD2-19DB-530E06773F32}"/>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124570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865F6-7A70-2AEB-B582-9A94FDD693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21DB8F3-D6F8-8202-24CE-560C24A129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7C32E0-E1C2-2FE6-A3CC-CD128DB82305}"/>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5" name="Footer Placeholder 4">
            <a:extLst>
              <a:ext uri="{FF2B5EF4-FFF2-40B4-BE49-F238E27FC236}">
                <a16:creationId xmlns:a16="http://schemas.microsoft.com/office/drawing/2014/main" id="{17B3D979-DB08-1B7F-2734-EA030E5FB1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3B6D26-187D-C7F8-F416-E81BD24399D8}"/>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3845679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8B439-A0AA-0F9B-49FD-F780D8EB8D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390342-902F-2C36-554B-517EAEDE52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81AFA0-8D44-2165-B154-240BD09D2B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AFD3DF-1EF4-88F9-F9D8-7645CD4DBD79}"/>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6" name="Footer Placeholder 5">
            <a:extLst>
              <a:ext uri="{FF2B5EF4-FFF2-40B4-BE49-F238E27FC236}">
                <a16:creationId xmlns:a16="http://schemas.microsoft.com/office/drawing/2014/main" id="{91769EEC-0DBE-7A26-AE05-661C88FC45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A5158A-5016-CBB0-866F-B9D4B487F365}"/>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3324704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A402C-108C-6A02-B5F9-C517B586CF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3C532E-50CE-2645-3BD0-49AE6A10E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B908DA-5B05-4AE7-A7DF-BDBC3ADE5D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9520CB7-1E03-C4FB-1D4C-F266B7391A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2E6596-B0ED-4304-6A02-48357FD648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F27CFC8-7B57-6535-2B79-E9AEFC736E2C}"/>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8" name="Footer Placeholder 7">
            <a:extLst>
              <a:ext uri="{FF2B5EF4-FFF2-40B4-BE49-F238E27FC236}">
                <a16:creationId xmlns:a16="http://schemas.microsoft.com/office/drawing/2014/main" id="{7B540E01-C85F-715B-F71B-7635BDAC38C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40CD9C-8AE9-45B3-3508-F87B5995A6FF}"/>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3743148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7C06-1453-5D22-0CF6-AE78769515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9C696B-E20C-FCDA-8B3E-797179150586}"/>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4" name="Footer Placeholder 3">
            <a:extLst>
              <a:ext uri="{FF2B5EF4-FFF2-40B4-BE49-F238E27FC236}">
                <a16:creationId xmlns:a16="http://schemas.microsoft.com/office/drawing/2014/main" id="{3F00FC8C-D151-F75B-B035-9E1EB19852D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950C2E6-EE1E-1E1D-F1BE-87965413DBF8}"/>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470892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5A4773-77B5-E210-37C1-CA03B0BC1288}"/>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3" name="Footer Placeholder 2">
            <a:extLst>
              <a:ext uri="{FF2B5EF4-FFF2-40B4-BE49-F238E27FC236}">
                <a16:creationId xmlns:a16="http://schemas.microsoft.com/office/drawing/2014/main" id="{3262745D-9D0E-8DCA-B84D-D8B72CE1F7A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A19AB1-1E95-A12A-55CE-3AE47AC99B74}"/>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2674759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8EE35-4DA9-543F-8BBA-474433947A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9E8126-0B06-051E-9AFE-B938C911F1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1F26B6-0459-7326-5C03-5EAA404BB4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526546-41BF-59B0-C223-83171D8FDF1A}"/>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6" name="Footer Placeholder 5">
            <a:extLst>
              <a:ext uri="{FF2B5EF4-FFF2-40B4-BE49-F238E27FC236}">
                <a16:creationId xmlns:a16="http://schemas.microsoft.com/office/drawing/2014/main" id="{58E0C5FC-10AF-6F00-0EAC-9F97138764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672F3A-C484-AB71-1AE9-F068579158F2}"/>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1189754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DA17-B19A-FD2F-8719-8C1D36BE9F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AC21D78-EFB6-E6DB-7032-051ACF4B0B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DDB808-536D-3A8F-F639-44DA2F022F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BC513-C876-BB13-4AE4-E0E6E372C02B}"/>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6" name="Footer Placeholder 5">
            <a:extLst>
              <a:ext uri="{FF2B5EF4-FFF2-40B4-BE49-F238E27FC236}">
                <a16:creationId xmlns:a16="http://schemas.microsoft.com/office/drawing/2014/main" id="{C36AE1B9-1A16-5CE9-ADF9-99912F7716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4F4EDC-4B4C-3E9D-D9FC-27DF9EC9CCED}"/>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1261115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7EDEC-706D-41E2-D502-A3485D0600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F212D1-180A-2FF3-4B51-CD29D2CC6F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81AAAE-9888-3681-D4CD-4611AD868E00}"/>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5" name="Footer Placeholder 4">
            <a:extLst>
              <a:ext uri="{FF2B5EF4-FFF2-40B4-BE49-F238E27FC236}">
                <a16:creationId xmlns:a16="http://schemas.microsoft.com/office/drawing/2014/main" id="{3D2A3D30-679F-FE9C-64EE-F9B80990A9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1DF772-7DFA-3D5F-4319-E52B8DE8991C}"/>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1462096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0A81EE-F4AF-AAEC-3850-BED02C7E9C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4903AC-CD5F-1008-4AF1-1854D053D8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87EA4D-6428-EBEA-DDFF-1383BD4F63E5}"/>
              </a:ext>
            </a:extLst>
          </p:cNvPr>
          <p:cNvSpPr>
            <a:spLocks noGrp="1"/>
          </p:cNvSpPr>
          <p:nvPr>
            <p:ph type="dt" sz="half" idx="10"/>
          </p:nvPr>
        </p:nvSpPr>
        <p:spPr/>
        <p:txBody>
          <a:bodyPr/>
          <a:lstStyle/>
          <a:p>
            <a:fld id="{3641F8C0-7BAB-4B65-94DD-107FD5F20000}" type="datetimeFigureOut">
              <a:rPr lang="en-IN" smtClean="0"/>
              <a:t>29-04-2025</a:t>
            </a:fld>
            <a:endParaRPr lang="en-IN"/>
          </a:p>
        </p:txBody>
      </p:sp>
      <p:sp>
        <p:nvSpPr>
          <p:cNvPr id="5" name="Footer Placeholder 4">
            <a:extLst>
              <a:ext uri="{FF2B5EF4-FFF2-40B4-BE49-F238E27FC236}">
                <a16:creationId xmlns:a16="http://schemas.microsoft.com/office/drawing/2014/main" id="{C68B4024-617E-8003-BDA7-EF6ECF305E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DD3D93-FA79-D913-2A65-68CAC11C4974}"/>
              </a:ext>
            </a:extLst>
          </p:cNvPr>
          <p:cNvSpPr>
            <a:spLocks noGrp="1"/>
          </p:cNvSpPr>
          <p:nvPr>
            <p:ph type="sldNum" sz="quarter" idx="12"/>
          </p:nvPr>
        </p:nvSpPr>
        <p:spPr/>
        <p:txBody>
          <a:bodyPr/>
          <a:lstStyle/>
          <a:p>
            <a:fld id="{DB31BBF8-204B-4A27-BF4F-0A8589B22F70}" type="slidenum">
              <a:rPr lang="en-IN" smtClean="0"/>
              <a:t>‹#›</a:t>
            </a:fld>
            <a:endParaRPr lang="en-IN"/>
          </a:p>
        </p:txBody>
      </p:sp>
    </p:spTree>
    <p:extLst>
      <p:ext uri="{BB962C8B-B14F-4D97-AF65-F5344CB8AC3E}">
        <p14:creationId xmlns:p14="http://schemas.microsoft.com/office/powerpoint/2010/main" val="416713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57187-E20A-625F-E1F9-52D19B0E27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AFC312-1F9E-2E42-0AA2-ED776B67BC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45FFE7-FE7D-067D-1C9B-0FFFEFCC40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41F8C0-7BAB-4B65-94DD-107FD5F20000}" type="datetimeFigureOut">
              <a:rPr lang="en-IN" smtClean="0"/>
              <a:t>29-04-2025</a:t>
            </a:fld>
            <a:endParaRPr lang="en-IN"/>
          </a:p>
        </p:txBody>
      </p:sp>
      <p:sp>
        <p:nvSpPr>
          <p:cNvPr id="5" name="Footer Placeholder 4">
            <a:extLst>
              <a:ext uri="{FF2B5EF4-FFF2-40B4-BE49-F238E27FC236}">
                <a16:creationId xmlns:a16="http://schemas.microsoft.com/office/drawing/2014/main" id="{644C30B2-DE2C-1843-F33E-62D99DA15D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D6CB58D-5283-D7A4-035B-F87AF9D54E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31BBF8-204B-4A27-BF4F-0A8589B22F70}" type="slidenum">
              <a:rPr lang="en-IN" smtClean="0"/>
              <a:t>‹#›</a:t>
            </a:fld>
            <a:endParaRPr lang="en-IN"/>
          </a:p>
        </p:txBody>
      </p:sp>
    </p:spTree>
    <p:extLst>
      <p:ext uri="{BB962C8B-B14F-4D97-AF65-F5344CB8AC3E}">
        <p14:creationId xmlns:p14="http://schemas.microsoft.com/office/powerpoint/2010/main" val="2984004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6"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22282-D4A1-A861-E047-26D387FBBA21}"/>
              </a:ext>
            </a:extLst>
          </p:cNvPr>
          <p:cNvSpPr>
            <a:spLocks noGrp="1"/>
          </p:cNvSpPr>
          <p:nvPr>
            <p:ph type="ctrTitle"/>
          </p:nvPr>
        </p:nvSpPr>
        <p:spPr>
          <a:xfrm>
            <a:off x="7464614" y="1783959"/>
            <a:ext cx="4087306" cy="2889114"/>
          </a:xfrm>
        </p:spPr>
        <p:txBody>
          <a:bodyPr anchor="b">
            <a:normAutofit/>
          </a:bodyPr>
          <a:lstStyle/>
          <a:p>
            <a:pPr algn="l"/>
            <a:r>
              <a:rPr lang="en-IN" sz="5400" dirty="0"/>
              <a:t>Deep learning</a:t>
            </a:r>
          </a:p>
        </p:txBody>
      </p:sp>
      <p:sp>
        <p:nvSpPr>
          <p:cNvPr id="3" name="Subtitle 2">
            <a:extLst>
              <a:ext uri="{FF2B5EF4-FFF2-40B4-BE49-F238E27FC236}">
                <a16:creationId xmlns:a16="http://schemas.microsoft.com/office/drawing/2014/main" id="{CDA0CC78-E811-D851-DD64-E83D69B80D89}"/>
              </a:ext>
            </a:extLst>
          </p:cNvPr>
          <p:cNvSpPr>
            <a:spLocks noGrp="1"/>
          </p:cNvSpPr>
          <p:nvPr>
            <p:ph type="subTitle" idx="1"/>
          </p:nvPr>
        </p:nvSpPr>
        <p:spPr>
          <a:xfrm>
            <a:off x="7464612" y="4750893"/>
            <a:ext cx="4087305" cy="1147863"/>
          </a:xfrm>
        </p:spPr>
        <p:txBody>
          <a:bodyPr anchor="t">
            <a:normAutofit/>
          </a:bodyPr>
          <a:lstStyle/>
          <a:p>
            <a:pPr algn="l"/>
            <a:r>
              <a:rPr lang="en-IN" sz="2000" dirty="0"/>
              <a:t>(Deep learning )</a:t>
            </a:r>
          </a:p>
        </p:txBody>
      </p:sp>
      <p:sp>
        <p:nvSpPr>
          <p:cNvPr id="9" name="Freeform: Shape 8">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Digital art of brain">
            <a:extLst>
              <a:ext uri="{FF2B5EF4-FFF2-40B4-BE49-F238E27FC236}">
                <a16:creationId xmlns:a16="http://schemas.microsoft.com/office/drawing/2014/main" id="{A59776FC-E056-816B-524B-F880EDBA38BC}"/>
              </a:ext>
            </a:extLst>
          </p:cNvPr>
          <p:cNvPicPr>
            <a:picLocks noChangeAspect="1"/>
          </p:cNvPicPr>
          <p:nvPr/>
        </p:nvPicPr>
        <p:blipFill rotWithShape="1">
          <a:blip r:embed="rId2"/>
          <a:srcRect l="25522" r="16830"/>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155832467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3BF14F0-604B-078A-14EF-DA7FB0C814F3}"/>
              </a:ext>
            </a:extLst>
          </p:cNvPr>
          <p:cNvSpPr>
            <a:spLocks noGrp="1"/>
          </p:cNvSpPr>
          <p:nvPr>
            <p:ph idx="1"/>
          </p:nvPr>
        </p:nvSpPr>
        <p:spPr/>
        <p:txBody>
          <a:bodyPr/>
          <a:lstStyle/>
          <a:p>
            <a:pPr marL="0" rtl="0" eaLnBrk="1" fontAlgn="base" latinLnBrk="0" hangingPunct="1"/>
            <a:r>
              <a:rPr lang="en-IN" sz="1800" b="1" i="0" u="none" strike="noStrike" kern="1200" dirty="0">
                <a:solidFill>
                  <a:srgbClr val="000000"/>
                </a:solidFill>
                <a:effectLst/>
                <a:latin typeface="Calibri" panose="020F0502020204030204" pitchFamily="34" charset="0"/>
              </a:rPr>
              <a:t>Data Requirement (More for deep learning and less for machine learning)</a:t>
            </a:r>
            <a:endParaRPr lang="en-IN" sz="1800" b="0" i="0" u="none" strike="noStrike" dirty="0">
              <a:effectLst/>
              <a:latin typeface="Arial" panose="020B0604020202020204" pitchFamily="34" charset="0"/>
            </a:endParaRPr>
          </a:p>
          <a:p>
            <a:pPr marL="0" rtl="0" eaLnBrk="1" fontAlgn="base" latinLnBrk="0" hangingPunct="1"/>
            <a:r>
              <a:rPr lang="en-IN" sz="1800" b="1" i="0" u="none" strike="noStrike" kern="1200" dirty="0">
                <a:solidFill>
                  <a:srgbClr val="000000"/>
                </a:solidFill>
                <a:effectLst/>
                <a:latin typeface="Calibri" panose="020F0502020204030204" pitchFamily="34" charset="0"/>
              </a:rPr>
              <a:t>Model Complexity (deep learning model are for more complex)</a:t>
            </a:r>
            <a:endParaRPr lang="en-IN" sz="1800" b="0" i="0" u="none" strike="noStrike" dirty="0">
              <a:effectLst/>
              <a:latin typeface="Arial" panose="020B0604020202020204" pitchFamily="34" charset="0"/>
            </a:endParaRPr>
          </a:p>
          <a:p>
            <a:pPr marL="0" rtl="0" eaLnBrk="1" fontAlgn="base" latinLnBrk="0" hangingPunct="1"/>
            <a:r>
              <a:rPr lang="en-IN" sz="1800" b="1" i="0" u="none" strike="noStrike" kern="1200" dirty="0">
                <a:solidFill>
                  <a:srgbClr val="000000"/>
                </a:solidFill>
                <a:effectLst/>
                <a:latin typeface="Calibri" panose="020F0502020204030204" pitchFamily="34" charset="0"/>
              </a:rPr>
              <a:t>Performance (deep learning have better performance)</a:t>
            </a:r>
            <a:endParaRPr lang="en-IN" sz="1800" b="0" i="0" u="none" strike="noStrike" dirty="0">
              <a:effectLst/>
              <a:latin typeface="Arial" panose="020B0604020202020204" pitchFamily="34" charset="0"/>
            </a:endParaRPr>
          </a:p>
          <a:p>
            <a:pPr marL="0" rtl="0" eaLnBrk="1" fontAlgn="base" latinLnBrk="0" hangingPunct="1"/>
            <a:r>
              <a:rPr lang="en-IN" sz="1800" b="1" i="0" u="none" strike="noStrike" kern="1200" dirty="0">
                <a:solidFill>
                  <a:srgbClr val="000000"/>
                </a:solidFill>
                <a:effectLst/>
                <a:latin typeface="Calibri" panose="020F0502020204030204" pitchFamily="34" charset="0"/>
              </a:rPr>
              <a:t>Interpretability (Machine learning model are more interpretable)</a:t>
            </a:r>
            <a:endParaRPr lang="en-IN" sz="1800" b="0" i="0" u="none" strike="noStrike" dirty="0">
              <a:effectLst/>
              <a:latin typeface="Arial" panose="020B0604020202020204" pitchFamily="34" charset="0"/>
            </a:endParaRPr>
          </a:p>
          <a:p>
            <a:pPr marL="0" rtl="0" eaLnBrk="1" fontAlgn="base" latinLnBrk="0" hangingPunct="1"/>
            <a:r>
              <a:rPr lang="en-IN" sz="1800" b="1" i="0" u="none" strike="noStrike" kern="1200" dirty="0">
                <a:solidFill>
                  <a:srgbClr val="000000"/>
                </a:solidFill>
                <a:effectLst/>
                <a:latin typeface="Calibri" panose="020F0502020204030204" pitchFamily="34" charset="0"/>
              </a:rPr>
              <a:t>Training Time (machine learning is faster)</a:t>
            </a:r>
            <a:endParaRPr lang="en-IN" sz="1800" b="0" i="0" u="none" strike="noStrike" dirty="0">
              <a:effectLst/>
              <a:latin typeface="Arial" panose="020B0604020202020204" pitchFamily="34" charset="0"/>
            </a:endParaRPr>
          </a:p>
          <a:p>
            <a:pPr marL="0" rtl="0" eaLnBrk="1" fontAlgn="base" latinLnBrk="0" hangingPunct="1"/>
            <a:r>
              <a:rPr lang="en-IN" sz="1800" b="1" i="0" u="none" strike="noStrike" kern="1200" dirty="0">
                <a:solidFill>
                  <a:srgbClr val="000000"/>
                </a:solidFill>
                <a:effectLst/>
                <a:latin typeface="Calibri" panose="020F0502020204030204" pitchFamily="34" charset="0"/>
              </a:rPr>
              <a:t>Hardware Dependency (CPU for machine learning, GPU for deep learning)</a:t>
            </a:r>
            <a:endParaRPr lang="en-IN" sz="1800" b="0" i="0" u="none" strike="noStrike" dirty="0">
              <a:effectLst/>
              <a:latin typeface="Arial" panose="020B0604020202020204" pitchFamily="34" charset="0"/>
            </a:endParaRPr>
          </a:p>
          <a:p>
            <a:endParaRPr lang="en-IN" dirty="0"/>
          </a:p>
        </p:txBody>
      </p:sp>
      <p:sp>
        <p:nvSpPr>
          <p:cNvPr id="7" name="Title 1">
            <a:extLst>
              <a:ext uri="{FF2B5EF4-FFF2-40B4-BE49-F238E27FC236}">
                <a16:creationId xmlns:a16="http://schemas.microsoft.com/office/drawing/2014/main" id="{76EFC068-7126-B528-A7AC-83D6A2B539B7}"/>
              </a:ext>
            </a:extLst>
          </p:cNvPr>
          <p:cNvSpPr>
            <a:spLocks noGrp="1"/>
          </p:cNvSpPr>
          <p:nvPr>
            <p:ph type="title"/>
          </p:nvPr>
        </p:nvSpPr>
        <p:spPr>
          <a:xfrm>
            <a:off x="838200" y="365125"/>
            <a:ext cx="10515600" cy="1325563"/>
          </a:xfrm>
        </p:spPr>
        <p:txBody>
          <a:bodyPr/>
          <a:lstStyle/>
          <a:p>
            <a:r>
              <a:rPr lang="en-IN" dirty="0">
                <a:latin typeface="Abadi" panose="020B0604020104020204" pitchFamily="34" charset="0"/>
              </a:rPr>
              <a:t>Deep learning vs Machine learning</a:t>
            </a:r>
          </a:p>
        </p:txBody>
      </p:sp>
    </p:spTree>
    <p:extLst>
      <p:ext uri="{BB962C8B-B14F-4D97-AF65-F5344CB8AC3E}">
        <p14:creationId xmlns:p14="http://schemas.microsoft.com/office/powerpoint/2010/main" val="1685065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900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5900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5900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5900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5900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5900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6A86F-2C7A-9DE6-B3F5-FAD695B6B69F}"/>
              </a:ext>
            </a:extLst>
          </p:cNvPr>
          <p:cNvSpPr>
            <a:spLocks noGrp="1"/>
          </p:cNvSpPr>
          <p:nvPr>
            <p:ph type="title"/>
          </p:nvPr>
        </p:nvSpPr>
        <p:spPr>
          <a:xfrm>
            <a:off x="838200" y="2856399"/>
            <a:ext cx="10515600" cy="1325563"/>
          </a:xfrm>
        </p:spPr>
        <p:txBody>
          <a:bodyPr/>
          <a:lstStyle/>
          <a:p>
            <a:r>
              <a:rPr lang="en-IN" b="1" dirty="0"/>
              <a:t>Artificial Neural Network</a:t>
            </a:r>
          </a:p>
        </p:txBody>
      </p:sp>
    </p:spTree>
    <p:extLst>
      <p:ext uri="{BB962C8B-B14F-4D97-AF65-F5344CB8AC3E}">
        <p14:creationId xmlns:p14="http://schemas.microsoft.com/office/powerpoint/2010/main" val="1815743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cell body and a diagram of a cell body&#10;&#10;AI-generated content may be incorrect.">
            <a:extLst>
              <a:ext uri="{FF2B5EF4-FFF2-40B4-BE49-F238E27FC236}">
                <a16:creationId xmlns:a16="http://schemas.microsoft.com/office/drawing/2014/main" id="{2152414B-6CCE-C780-6475-701F4EFCA2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8619" y="643466"/>
            <a:ext cx="6814761" cy="5571067"/>
          </a:xfrm>
          <a:prstGeom prst="rect">
            <a:avLst/>
          </a:prstGeom>
        </p:spPr>
      </p:pic>
    </p:spTree>
    <p:extLst>
      <p:ext uri="{BB962C8B-B14F-4D97-AF65-F5344CB8AC3E}">
        <p14:creationId xmlns:p14="http://schemas.microsoft.com/office/powerpoint/2010/main" val="1007413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A492A-15ED-0E3F-F94A-84ED9C0BF613}"/>
              </a:ext>
            </a:extLst>
          </p:cNvPr>
          <p:cNvSpPr>
            <a:spLocks noGrp="1"/>
          </p:cNvSpPr>
          <p:nvPr>
            <p:ph type="title"/>
          </p:nvPr>
        </p:nvSpPr>
        <p:spPr/>
        <p:txBody>
          <a:bodyPr/>
          <a:lstStyle/>
          <a:p>
            <a:r>
              <a:rPr lang="en-IN" dirty="0">
                <a:latin typeface="Abadi" panose="020B0604020104020204" pitchFamily="34" charset="0"/>
              </a:rPr>
              <a:t>History of neural network</a:t>
            </a:r>
          </a:p>
        </p:txBody>
      </p:sp>
      <p:pic>
        <p:nvPicPr>
          <p:cNvPr id="5" name="Content Placeholder 4" descr="A picture containing text, person, person, standing&#10;&#10;Description automatically generated">
            <a:extLst>
              <a:ext uri="{FF2B5EF4-FFF2-40B4-BE49-F238E27FC236}">
                <a16:creationId xmlns:a16="http://schemas.microsoft.com/office/drawing/2014/main" id="{20F4CC84-FE6C-7957-CB79-7F90720CDA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2116419"/>
            <a:ext cx="5482406" cy="3479967"/>
          </a:xfrm>
        </p:spPr>
      </p:pic>
      <p:sp>
        <p:nvSpPr>
          <p:cNvPr id="7" name="TextBox 6">
            <a:extLst>
              <a:ext uri="{FF2B5EF4-FFF2-40B4-BE49-F238E27FC236}">
                <a16:creationId xmlns:a16="http://schemas.microsoft.com/office/drawing/2014/main" id="{F5FF8527-6A6B-B155-69C9-0816946121AE}"/>
              </a:ext>
            </a:extLst>
          </p:cNvPr>
          <p:cNvSpPr txBox="1"/>
          <p:nvPr/>
        </p:nvSpPr>
        <p:spPr>
          <a:xfrm>
            <a:off x="6096000" y="5763850"/>
            <a:ext cx="5358581" cy="461665"/>
          </a:xfrm>
          <a:prstGeom prst="rect">
            <a:avLst/>
          </a:prstGeom>
          <a:noFill/>
        </p:spPr>
        <p:txBody>
          <a:bodyPr wrap="square">
            <a:spAutoFit/>
          </a:bodyPr>
          <a:lstStyle/>
          <a:p>
            <a:r>
              <a:rPr lang="en-IN" sz="2400" b="0" i="0" dirty="0">
                <a:solidFill>
                  <a:srgbClr val="374151"/>
                </a:solidFill>
                <a:effectLst/>
              </a:rPr>
              <a:t>Warren McCulloch                  Walter Pitts</a:t>
            </a:r>
            <a:endParaRPr lang="en-IN" sz="2400" dirty="0"/>
          </a:p>
        </p:txBody>
      </p:sp>
    </p:spTree>
    <p:extLst>
      <p:ext uri="{BB962C8B-B14F-4D97-AF65-F5344CB8AC3E}">
        <p14:creationId xmlns:p14="http://schemas.microsoft.com/office/powerpoint/2010/main" val="2644638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E6CC7-CA96-A0A7-DD6E-97339A17F470}"/>
              </a:ext>
            </a:extLst>
          </p:cNvPr>
          <p:cNvSpPr>
            <a:spLocks noGrp="1"/>
          </p:cNvSpPr>
          <p:nvPr>
            <p:ph type="title"/>
          </p:nvPr>
        </p:nvSpPr>
        <p:spPr/>
        <p:txBody>
          <a:bodyPr/>
          <a:lstStyle/>
          <a:p>
            <a:r>
              <a:rPr lang="en-IN" dirty="0">
                <a:latin typeface="Abadi" panose="020B0604020104020204" pitchFamily="34" charset="0"/>
              </a:rPr>
              <a:t>Building blocks of ANN</a:t>
            </a:r>
          </a:p>
        </p:txBody>
      </p:sp>
      <p:pic>
        <p:nvPicPr>
          <p:cNvPr id="5" name="Content Placeholder 4" descr="A picture containing text, cosmetic&#10;&#10;Description automatically generated">
            <a:extLst>
              <a:ext uri="{FF2B5EF4-FFF2-40B4-BE49-F238E27FC236}">
                <a16:creationId xmlns:a16="http://schemas.microsoft.com/office/drawing/2014/main" id="{A6612A64-6C89-430F-56A1-C9F1C37CAB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20941" y="1690687"/>
            <a:ext cx="8531683" cy="4592125"/>
          </a:xfrm>
        </p:spPr>
      </p:pic>
    </p:spTree>
    <p:extLst>
      <p:ext uri="{BB962C8B-B14F-4D97-AF65-F5344CB8AC3E}">
        <p14:creationId xmlns:p14="http://schemas.microsoft.com/office/powerpoint/2010/main" val="3543850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32BE1-0B06-94D1-85C5-9743A58B8CB0}"/>
              </a:ext>
            </a:extLst>
          </p:cNvPr>
          <p:cNvSpPr>
            <a:spLocks noGrp="1"/>
          </p:cNvSpPr>
          <p:nvPr>
            <p:ph type="title"/>
          </p:nvPr>
        </p:nvSpPr>
        <p:spPr/>
        <p:txBody>
          <a:bodyPr/>
          <a:lstStyle/>
          <a:p>
            <a:r>
              <a:rPr lang="en-IN" dirty="0">
                <a:latin typeface="Abadi" panose="020B0604020104020204" pitchFamily="34" charset="0"/>
              </a:rPr>
              <a:t>Equation of neural network</a:t>
            </a:r>
          </a:p>
        </p:txBody>
      </p:sp>
      <p:pic>
        <p:nvPicPr>
          <p:cNvPr id="9" name="Picture 8" descr="Diagram&#10;&#10;Description automatically generated">
            <a:extLst>
              <a:ext uri="{FF2B5EF4-FFF2-40B4-BE49-F238E27FC236}">
                <a16:creationId xmlns:a16="http://schemas.microsoft.com/office/drawing/2014/main" id="{E7068283-1AE7-945F-BD7F-960BCF81CD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199" y="1690688"/>
            <a:ext cx="9381033" cy="4801016"/>
          </a:xfrm>
          <a:prstGeom prst="rect">
            <a:avLst/>
          </a:prstGeom>
        </p:spPr>
      </p:pic>
      <mc:AlternateContent xmlns:mc="http://schemas.openxmlformats.org/markup-compatibility/2006" xmlns:p14="http://schemas.microsoft.com/office/powerpoint/2010/main">
        <mc:Choice Requires="p14">
          <p:contentPart p14:bwMode="auto" r:id="rId3">
            <p14:nvContentPartPr>
              <p14:cNvPr id="31" name="Ink 30">
                <a:extLst>
                  <a:ext uri="{FF2B5EF4-FFF2-40B4-BE49-F238E27FC236}">
                    <a16:creationId xmlns:a16="http://schemas.microsoft.com/office/drawing/2014/main" id="{0EECA9AD-996D-8DE5-74CC-57DD2FD7ADF0}"/>
                  </a:ext>
                </a:extLst>
              </p14:cNvPr>
              <p14:cNvContentPartPr/>
              <p14:nvPr/>
            </p14:nvContentPartPr>
            <p14:xfrm>
              <a:off x="9143728" y="6606081"/>
              <a:ext cx="360" cy="360"/>
            </p14:xfrm>
          </p:contentPart>
        </mc:Choice>
        <mc:Fallback xmlns="">
          <p:pic>
            <p:nvPicPr>
              <p:cNvPr id="31" name="Ink 30">
                <a:extLst>
                  <a:ext uri="{FF2B5EF4-FFF2-40B4-BE49-F238E27FC236}">
                    <a16:creationId xmlns:a16="http://schemas.microsoft.com/office/drawing/2014/main" id="{0EECA9AD-996D-8DE5-74CC-57DD2FD7ADF0}"/>
                  </a:ext>
                </a:extLst>
              </p:cNvPr>
              <p:cNvPicPr/>
              <p:nvPr/>
            </p:nvPicPr>
            <p:blipFill>
              <a:blip r:embed="rId16"/>
              <a:stretch>
                <a:fillRect/>
              </a:stretch>
            </p:blipFill>
            <p:spPr>
              <a:xfrm>
                <a:off x="9137608" y="6599961"/>
                <a:ext cx="12600" cy="12600"/>
              </a:xfrm>
              <a:prstGeom prst="rect">
                <a:avLst/>
              </a:prstGeom>
            </p:spPr>
          </p:pic>
        </mc:Fallback>
      </mc:AlternateContent>
    </p:spTree>
    <p:extLst>
      <p:ext uri="{BB962C8B-B14F-4D97-AF65-F5344CB8AC3E}">
        <p14:creationId xmlns:p14="http://schemas.microsoft.com/office/powerpoint/2010/main" val="1620571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59D31-22A0-959F-2EFC-4837556EEC94}"/>
              </a:ext>
            </a:extLst>
          </p:cNvPr>
          <p:cNvSpPr>
            <a:spLocks noGrp="1"/>
          </p:cNvSpPr>
          <p:nvPr>
            <p:ph type="title"/>
          </p:nvPr>
        </p:nvSpPr>
        <p:spPr/>
        <p:txBody>
          <a:bodyPr/>
          <a:lstStyle/>
          <a:p>
            <a:r>
              <a:rPr lang="en-IN" dirty="0">
                <a:latin typeface="Abadi" panose="020B0604020104020204" pitchFamily="34" charset="0"/>
              </a:rPr>
              <a:t>What is Activation function</a:t>
            </a:r>
          </a:p>
        </p:txBody>
      </p:sp>
      <p:sp>
        <p:nvSpPr>
          <p:cNvPr id="3" name="Content Placeholder 2">
            <a:extLst>
              <a:ext uri="{FF2B5EF4-FFF2-40B4-BE49-F238E27FC236}">
                <a16:creationId xmlns:a16="http://schemas.microsoft.com/office/drawing/2014/main" id="{9689D7A6-985F-F168-CE61-6EF77F426767}"/>
              </a:ext>
            </a:extLst>
          </p:cNvPr>
          <p:cNvSpPr>
            <a:spLocks noGrp="1"/>
          </p:cNvSpPr>
          <p:nvPr>
            <p:ph idx="1"/>
          </p:nvPr>
        </p:nvSpPr>
        <p:spPr/>
        <p:txBody>
          <a:bodyPr>
            <a:normAutofit/>
          </a:bodyPr>
          <a:lstStyle/>
          <a:p>
            <a:r>
              <a:rPr lang="en-US" sz="2400" dirty="0"/>
              <a:t>Imagine you're trying to decide whether to turn on a light based on how dark the room is. </a:t>
            </a:r>
          </a:p>
          <a:p>
            <a:endParaRPr lang="en-US" sz="2400" dirty="0"/>
          </a:p>
          <a:p>
            <a:endParaRPr lang="en-US" sz="2400" dirty="0"/>
          </a:p>
          <a:p>
            <a:endParaRPr lang="en-US" sz="2400" dirty="0"/>
          </a:p>
          <a:p>
            <a:endParaRPr lang="en-US" sz="2400" dirty="0"/>
          </a:p>
          <a:p>
            <a:endParaRPr lang="en-US" sz="2400" dirty="0"/>
          </a:p>
        </p:txBody>
      </p:sp>
      <p:pic>
        <p:nvPicPr>
          <p:cNvPr id="5" name="Picture 4" descr="A light bulb and a light bulb&#10;&#10;AI-generated content may be incorrect.">
            <a:extLst>
              <a:ext uri="{FF2B5EF4-FFF2-40B4-BE49-F238E27FC236}">
                <a16:creationId xmlns:a16="http://schemas.microsoft.com/office/drawing/2014/main" id="{F855490D-5992-79D6-53BA-81580F1A46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8180" y="3248130"/>
            <a:ext cx="4125267" cy="2750178"/>
          </a:xfrm>
          <a:prstGeom prst="rect">
            <a:avLst/>
          </a:prstGeom>
        </p:spPr>
      </p:pic>
    </p:spTree>
    <p:extLst>
      <p:ext uri="{BB962C8B-B14F-4D97-AF65-F5344CB8AC3E}">
        <p14:creationId xmlns:p14="http://schemas.microsoft.com/office/powerpoint/2010/main" val="3928062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B4279-D8F0-CF76-2028-3198122D25BA}"/>
              </a:ext>
            </a:extLst>
          </p:cNvPr>
          <p:cNvSpPr>
            <a:spLocks noGrp="1"/>
          </p:cNvSpPr>
          <p:nvPr>
            <p:ph type="title"/>
          </p:nvPr>
        </p:nvSpPr>
        <p:spPr/>
        <p:txBody>
          <a:bodyPr/>
          <a:lstStyle/>
          <a:p>
            <a:r>
              <a:rPr lang="en-IN" dirty="0">
                <a:latin typeface="Abadi" panose="020B0604020104020204" pitchFamily="34" charset="0"/>
              </a:rPr>
              <a:t>What is Activation function</a:t>
            </a:r>
          </a:p>
        </p:txBody>
      </p:sp>
      <p:sp>
        <p:nvSpPr>
          <p:cNvPr id="3" name="Content Placeholder 2">
            <a:extLst>
              <a:ext uri="{FF2B5EF4-FFF2-40B4-BE49-F238E27FC236}">
                <a16:creationId xmlns:a16="http://schemas.microsoft.com/office/drawing/2014/main" id="{DD66478D-F726-0135-3215-4CDB4BF520CB}"/>
              </a:ext>
            </a:extLst>
          </p:cNvPr>
          <p:cNvSpPr>
            <a:spLocks noGrp="1"/>
          </p:cNvSpPr>
          <p:nvPr>
            <p:ph idx="1"/>
          </p:nvPr>
        </p:nvSpPr>
        <p:spPr/>
        <p:txBody>
          <a:bodyPr/>
          <a:lstStyle/>
          <a:p>
            <a:r>
              <a:rPr lang="en-US" sz="2800" dirty="0"/>
              <a:t>The </a:t>
            </a:r>
            <a:r>
              <a:rPr lang="en-US" sz="2800" b="1" dirty="0"/>
              <a:t>activation function</a:t>
            </a:r>
            <a:r>
              <a:rPr lang="en-US" sz="2800" dirty="0"/>
              <a:t> in a neural network works in a similar way—it decides whether a neuron should "turn on" (activate) or stay "off" (inactive) based on the input it receives.</a:t>
            </a:r>
          </a:p>
          <a:p>
            <a:endParaRPr lang="en-IN" dirty="0"/>
          </a:p>
        </p:txBody>
      </p:sp>
    </p:spTree>
    <p:extLst>
      <p:ext uri="{BB962C8B-B14F-4D97-AF65-F5344CB8AC3E}">
        <p14:creationId xmlns:p14="http://schemas.microsoft.com/office/powerpoint/2010/main" val="593462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F6D22-EA76-1821-6697-99FAABB71E10}"/>
              </a:ext>
            </a:extLst>
          </p:cNvPr>
          <p:cNvSpPr>
            <a:spLocks noGrp="1"/>
          </p:cNvSpPr>
          <p:nvPr>
            <p:ph type="title"/>
          </p:nvPr>
        </p:nvSpPr>
        <p:spPr/>
        <p:txBody>
          <a:bodyPr/>
          <a:lstStyle/>
          <a:p>
            <a:r>
              <a:rPr lang="en-IN" dirty="0">
                <a:latin typeface="Abadi" panose="020B0604020104020204" pitchFamily="34" charset="0"/>
              </a:rPr>
              <a:t>Types of Activation function</a:t>
            </a:r>
          </a:p>
        </p:txBody>
      </p:sp>
      <p:sp>
        <p:nvSpPr>
          <p:cNvPr id="3" name="Content Placeholder 2">
            <a:extLst>
              <a:ext uri="{FF2B5EF4-FFF2-40B4-BE49-F238E27FC236}">
                <a16:creationId xmlns:a16="http://schemas.microsoft.com/office/drawing/2014/main" id="{9DE12D4A-3536-7EF9-AA38-5C3781269594}"/>
              </a:ext>
            </a:extLst>
          </p:cNvPr>
          <p:cNvSpPr>
            <a:spLocks noGrp="1"/>
          </p:cNvSpPr>
          <p:nvPr>
            <p:ph idx="1"/>
          </p:nvPr>
        </p:nvSpPr>
        <p:spPr/>
        <p:txBody>
          <a:bodyPr>
            <a:normAutofit lnSpcReduction="10000"/>
          </a:bodyPr>
          <a:lstStyle/>
          <a:p>
            <a:pPr marL="0" indent="0">
              <a:buNone/>
            </a:pPr>
            <a:r>
              <a:rPr lang="en-IN" sz="2400" dirty="0"/>
              <a:t>Binary classification (sigmoid activation function)</a:t>
            </a:r>
          </a:p>
          <a:p>
            <a:r>
              <a:rPr lang="en-IN" sz="2400" dirty="0"/>
              <a:t>Turn on- 0.6 –(1)</a:t>
            </a:r>
          </a:p>
          <a:p>
            <a:r>
              <a:rPr lang="en-IN" sz="2400" dirty="0"/>
              <a:t>Turn off-0.4- (0)</a:t>
            </a:r>
          </a:p>
          <a:p>
            <a:endParaRPr lang="en-IN" sz="2400" dirty="0"/>
          </a:p>
          <a:p>
            <a:endParaRPr lang="en-IN" sz="2400" dirty="0"/>
          </a:p>
          <a:p>
            <a:pPr marL="0" indent="0">
              <a:buNone/>
            </a:pPr>
            <a:endParaRPr lang="en-IN" sz="2400" dirty="0"/>
          </a:p>
          <a:p>
            <a:pPr marL="0" indent="0">
              <a:buNone/>
            </a:pPr>
            <a:r>
              <a:rPr lang="en-IN" sz="2400" dirty="0"/>
              <a:t>Multiclass classification (more than two class--- SoftMax activation function)</a:t>
            </a:r>
          </a:p>
          <a:p>
            <a:r>
              <a:rPr lang="en-IN" sz="2400" dirty="0"/>
              <a:t>0.6</a:t>
            </a:r>
          </a:p>
          <a:p>
            <a:r>
              <a:rPr lang="en-IN" sz="2400" dirty="0"/>
              <a:t>0.4</a:t>
            </a:r>
          </a:p>
          <a:p>
            <a:r>
              <a:rPr lang="en-IN" sz="2400" dirty="0"/>
              <a:t>0.2</a:t>
            </a:r>
          </a:p>
          <a:p>
            <a:endParaRPr lang="en-IN" sz="2400" dirty="0"/>
          </a:p>
        </p:txBody>
      </p:sp>
    </p:spTree>
    <p:extLst>
      <p:ext uri="{BB962C8B-B14F-4D97-AF65-F5344CB8AC3E}">
        <p14:creationId xmlns:p14="http://schemas.microsoft.com/office/powerpoint/2010/main" val="3960936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900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5900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5900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5900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5900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5900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5900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107C-F16A-3B65-DD95-FC16A061AE31}"/>
              </a:ext>
            </a:extLst>
          </p:cNvPr>
          <p:cNvSpPr>
            <a:spLocks noGrp="1"/>
          </p:cNvSpPr>
          <p:nvPr>
            <p:ph type="title"/>
          </p:nvPr>
        </p:nvSpPr>
        <p:spPr/>
        <p:txBody>
          <a:bodyPr/>
          <a:lstStyle/>
          <a:p>
            <a:r>
              <a:rPr lang="en-IN" dirty="0">
                <a:latin typeface="Abadi" panose="020B0604020104020204" pitchFamily="34" charset="0"/>
              </a:rPr>
              <a:t>Types of Activation function</a:t>
            </a:r>
            <a:endParaRPr lang="en-IN" dirty="0"/>
          </a:p>
        </p:txBody>
      </p:sp>
      <p:sp>
        <p:nvSpPr>
          <p:cNvPr id="3" name="Content Placeholder 2">
            <a:extLst>
              <a:ext uri="{FF2B5EF4-FFF2-40B4-BE49-F238E27FC236}">
                <a16:creationId xmlns:a16="http://schemas.microsoft.com/office/drawing/2014/main" id="{688EC1EE-8F8B-3D4A-2705-E9D634CA6364}"/>
              </a:ext>
            </a:extLst>
          </p:cNvPr>
          <p:cNvSpPr>
            <a:spLocks noGrp="1"/>
          </p:cNvSpPr>
          <p:nvPr>
            <p:ph idx="1"/>
          </p:nvPr>
        </p:nvSpPr>
        <p:spPr/>
        <p:txBody>
          <a:bodyPr>
            <a:normAutofit/>
          </a:bodyPr>
          <a:lstStyle/>
          <a:p>
            <a:pPr marL="0" indent="0">
              <a:buNone/>
            </a:pPr>
            <a:r>
              <a:rPr lang="en-IN" sz="2400" dirty="0"/>
              <a:t>ReLU (Rectified Linear Unit) </a:t>
            </a:r>
          </a:p>
          <a:p>
            <a:r>
              <a:rPr lang="en-IN" sz="2400" dirty="0"/>
              <a:t>Input&gt;0= turn on the light</a:t>
            </a:r>
          </a:p>
          <a:p>
            <a:r>
              <a:rPr lang="en-IN" sz="2400" dirty="0"/>
              <a:t>Input&lt;0= turn off the light</a:t>
            </a:r>
          </a:p>
        </p:txBody>
      </p:sp>
    </p:spTree>
    <p:extLst>
      <p:ext uri="{BB962C8B-B14F-4D97-AF65-F5344CB8AC3E}">
        <p14:creationId xmlns:p14="http://schemas.microsoft.com/office/powerpoint/2010/main" val="839112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7C57C-F272-3EB7-CB4C-404A8C737070}"/>
              </a:ext>
            </a:extLst>
          </p:cNvPr>
          <p:cNvSpPr>
            <a:spLocks noGrp="1"/>
          </p:cNvSpPr>
          <p:nvPr>
            <p:ph type="title"/>
          </p:nvPr>
        </p:nvSpPr>
        <p:spPr/>
        <p:txBody>
          <a:bodyPr/>
          <a:lstStyle/>
          <a:p>
            <a:r>
              <a:rPr lang="en-IN" dirty="0">
                <a:latin typeface="Abadi" panose="020B0604020104020204" pitchFamily="34" charset="0"/>
              </a:rPr>
              <a:t>Activation function (Sigmoid)</a:t>
            </a:r>
          </a:p>
        </p:txBody>
      </p:sp>
      <p:pic>
        <p:nvPicPr>
          <p:cNvPr id="7" name="Content Placeholder 6" descr="Chart, line chart&#10;&#10;Description automatically generated">
            <a:extLst>
              <a:ext uri="{FF2B5EF4-FFF2-40B4-BE49-F238E27FC236}">
                <a16:creationId xmlns:a16="http://schemas.microsoft.com/office/drawing/2014/main" id="{E3756B27-AD30-F597-C634-A2D336CB6A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26368" y="2015613"/>
            <a:ext cx="8433950" cy="3446130"/>
          </a:xfrm>
        </p:spPr>
      </p:pic>
    </p:spTree>
    <p:extLst>
      <p:ext uri="{BB962C8B-B14F-4D97-AF65-F5344CB8AC3E}">
        <p14:creationId xmlns:p14="http://schemas.microsoft.com/office/powerpoint/2010/main" val="1828435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3644-67D8-83C9-0024-EF4C542F794D}"/>
              </a:ext>
            </a:extLst>
          </p:cNvPr>
          <p:cNvSpPr>
            <a:spLocks noGrp="1"/>
          </p:cNvSpPr>
          <p:nvPr>
            <p:ph type="title"/>
          </p:nvPr>
        </p:nvSpPr>
        <p:spPr/>
        <p:txBody>
          <a:bodyPr/>
          <a:lstStyle/>
          <a:p>
            <a:r>
              <a:rPr lang="en-IN" dirty="0">
                <a:latin typeface="Abadi" panose="020B0604020104020204" pitchFamily="34" charset="0"/>
              </a:rPr>
              <a:t>Other activation function</a:t>
            </a:r>
          </a:p>
        </p:txBody>
      </p:sp>
      <p:pic>
        <p:nvPicPr>
          <p:cNvPr id="5" name="Picture 4" descr="Chart, line chart&#10;&#10;Description automatically generated">
            <a:extLst>
              <a:ext uri="{FF2B5EF4-FFF2-40B4-BE49-F238E27FC236}">
                <a16:creationId xmlns:a16="http://schemas.microsoft.com/office/drawing/2014/main" id="{EED23152-9D1C-0EE1-74E6-5DBC3181D1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503" y="2155229"/>
            <a:ext cx="5913956" cy="3307205"/>
          </a:xfrm>
          <a:prstGeom prst="rect">
            <a:avLst/>
          </a:prstGeom>
        </p:spPr>
      </p:pic>
      <p:pic>
        <p:nvPicPr>
          <p:cNvPr id="7" name="Picture 6" descr="Chart, line chart&#10;&#10;Description automatically generated">
            <a:extLst>
              <a:ext uri="{FF2B5EF4-FFF2-40B4-BE49-F238E27FC236}">
                <a16:creationId xmlns:a16="http://schemas.microsoft.com/office/drawing/2014/main" id="{7CDC9301-950B-A470-7336-ABE902F591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0314" y="2275668"/>
            <a:ext cx="5489668" cy="3186765"/>
          </a:xfrm>
          <a:prstGeom prst="rect">
            <a:avLst/>
          </a:prstGeom>
        </p:spPr>
      </p:pic>
    </p:spTree>
    <p:extLst>
      <p:ext uri="{BB962C8B-B14F-4D97-AF65-F5344CB8AC3E}">
        <p14:creationId xmlns:p14="http://schemas.microsoft.com/office/powerpoint/2010/main" val="2755780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B81C6-4C47-B199-9F3C-4F36E149383D}"/>
              </a:ext>
            </a:extLst>
          </p:cNvPr>
          <p:cNvSpPr>
            <a:spLocks noGrp="1"/>
          </p:cNvSpPr>
          <p:nvPr>
            <p:ph type="title"/>
          </p:nvPr>
        </p:nvSpPr>
        <p:spPr/>
        <p:txBody>
          <a:bodyPr/>
          <a:lstStyle/>
          <a:p>
            <a:r>
              <a:rPr lang="en-IN" dirty="0"/>
              <a:t>Dropout</a:t>
            </a:r>
          </a:p>
        </p:txBody>
      </p:sp>
      <p:pic>
        <p:nvPicPr>
          <p:cNvPr id="5" name="Content Placeholder 4" descr="A diagram of a network&#10;&#10;AI-generated content may be incorrect.">
            <a:extLst>
              <a:ext uri="{FF2B5EF4-FFF2-40B4-BE49-F238E27FC236}">
                <a16:creationId xmlns:a16="http://schemas.microsoft.com/office/drawing/2014/main" id="{1AC2BC12-9BB1-B26E-530D-ADE45F2C61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62831" y="2724884"/>
            <a:ext cx="3032949" cy="1949753"/>
          </a:xfrm>
        </p:spPr>
      </p:pic>
    </p:spTree>
    <p:extLst>
      <p:ext uri="{BB962C8B-B14F-4D97-AF65-F5344CB8AC3E}">
        <p14:creationId xmlns:p14="http://schemas.microsoft.com/office/powerpoint/2010/main" val="4042691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8E31F-C451-DEA9-C2F2-D85A3434401C}"/>
              </a:ext>
            </a:extLst>
          </p:cNvPr>
          <p:cNvSpPr>
            <a:spLocks noGrp="1"/>
          </p:cNvSpPr>
          <p:nvPr>
            <p:ph type="title"/>
          </p:nvPr>
        </p:nvSpPr>
        <p:spPr/>
        <p:txBody>
          <a:bodyPr/>
          <a:lstStyle/>
          <a:p>
            <a:r>
              <a:rPr lang="en-IN" dirty="0">
                <a:latin typeface="Abadi" panose="020B0604020104020204" pitchFamily="34" charset="0"/>
              </a:rPr>
              <a:t>Backpropagation</a:t>
            </a:r>
          </a:p>
        </p:txBody>
      </p:sp>
      <p:sp>
        <p:nvSpPr>
          <p:cNvPr id="9" name="Content Placeholder 8">
            <a:extLst>
              <a:ext uri="{FF2B5EF4-FFF2-40B4-BE49-F238E27FC236}">
                <a16:creationId xmlns:a16="http://schemas.microsoft.com/office/drawing/2014/main" id="{CFA17C19-8732-8CE4-D997-96C5B9597393}"/>
              </a:ext>
            </a:extLst>
          </p:cNvPr>
          <p:cNvSpPr>
            <a:spLocks noGrp="1"/>
          </p:cNvSpPr>
          <p:nvPr>
            <p:ph idx="1"/>
          </p:nvPr>
        </p:nvSpPr>
        <p:spPr>
          <a:xfrm>
            <a:off x="642257" y="1853924"/>
            <a:ext cx="10515600" cy="4351338"/>
          </a:xfrm>
        </p:spPr>
        <p:txBody>
          <a:bodyPr>
            <a:normAutofit/>
          </a:bodyPr>
          <a:lstStyle/>
          <a:p>
            <a:pPr marL="0" indent="0">
              <a:buNone/>
            </a:pPr>
            <a:r>
              <a:rPr lang="en-IN" sz="2400" dirty="0"/>
              <a:t>Imagine you are playing a game like predicting a no</a:t>
            </a:r>
          </a:p>
          <a:p>
            <a:r>
              <a:rPr lang="en-IN" sz="2400" dirty="0"/>
              <a:t>You make a guess: </a:t>
            </a:r>
          </a:p>
          <a:p>
            <a:r>
              <a:rPr lang="en-US" sz="2400" dirty="0"/>
              <a:t>You find out how wrong you were: </a:t>
            </a:r>
            <a:endParaRPr lang="en-IN" sz="2400" dirty="0"/>
          </a:p>
          <a:p>
            <a:r>
              <a:rPr lang="en-US" sz="2400" dirty="0"/>
              <a:t>You adjust your guess-making process: </a:t>
            </a:r>
            <a:endParaRPr lang="en-IN" sz="2400" dirty="0"/>
          </a:p>
        </p:txBody>
      </p:sp>
    </p:spTree>
    <p:extLst>
      <p:ext uri="{BB962C8B-B14F-4D97-AF65-F5344CB8AC3E}">
        <p14:creationId xmlns:p14="http://schemas.microsoft.com/office/powerpoint/2010/main" val="3136219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900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5900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5900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5900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C9087-2F3B-59DA-F1D1-207BC155D4E6}"/>
              </a:ext>
            </a:extLst>
          </p:cNvPr>
          <p:cNvSpPr>
            <a:spLocks noGrp="1"/>
          </p:cNvSpPr>
          <p:nvPr>
            <p:ph type="title"/>
          </p:nvPr>
        </p:nvSpPr>
        <p:spPr/>
        <p:txBody>
          <a:bodyPr/>
          <a:lstStyle/>
          <a:p>
            <a:r>
              <a:rPr lang="en-IN">
                <a:latin typeface="Abadi" panose="020B0604020104020204" pitchFamily="34" charset="0"/>
              </a:rPr>
              <a:t>Backpropagation</a:t>
            </a:r>
            <a:endParaRPr lang="en-IN" dirty="0"/>
          </a:p>
        </p:txBody>
      </p:sp>
      <p:sp>
        <p:nvSpPr>
          <p:cNvPr id="3" name="Content Placeholder 2">
            <a:extLst>
              <a:ext uri="{FF2B5EF4-FFF2-40B4-BE49-F238E27FC236}">
                <a16:creationId xmlns:a16="http://schemas.microsoft.com/office/drawing/2014/main" id="{C3AE726F-1743-523C-2517-A16D0DDD15AB}"/>
              </a:ext>
            </a:extLst>
          </p:cNvPr>
          <p:cNvSpPr>
            <a:spLocks noGrp="1"/>
          </p:cNvSpPr>
          <p:nvPr>
            <p:ph idx="1"/>
          </p:nvPr>
        </p:nvSpPr>
        <p:spPr/>
        <p:txBody>
          <a:bodyPr>
            <a:normAutofit/>
          </a:bodyPr>
          <a:lstStyle/>
          <a:p>
            <a:r>
              <a:rPr lang="en-US" sz="2400" dirty="0"/>
              <a:t>The Game is like a neural network trying to solve a problem (e.g., predicting a number). </a:t>
            </a:r>
          </a:p>
          <a:p>
            <a:r>
              <a:rPr lang="en-US" sz="2400" dirty="0"/>
              <a:t>Your Guess is like the network's output (the prediction it makes). </a:t>
            </a:r>
          </a:p>
          <a:p>
            <a:r>
              <a:rPr lang="en-US" sz="2400" dirty="0"/>
              <a:t>Finding out how wrong you were is the process of calculating how much the guess was off from the actual answer (this is called "loss" or "error"). </a:t>
            </a:r>
          </a:p>
          <a:p>
            <a:r>
              <a:rPr lang="en-US" sz="2400" dirty="0"/>
              <a:t>Adjusting your guess-making process is backpropagation. It's like learning from mistakes so that the next time you make a better guess by adjusting the internal steps of the network (called "weights"). </a:t>
            </a:r>
          </a:p>
          <a:p>
            <a:endParaRPr lang="en-IN" sz="2400" dirty="0"/>
          </a:p>
        </p:txBody>
      </p:sp>
    </p:spTree>
    <p:extLst>
      <p:ext uri="{BB962C8B-B14F-4D97-AF65-F5344CB8AC3E}">
        <p14:creationId xmlns:p14="http://schemas.microsoft.com/office/powerpoint/2010/main" val="3271821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900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5900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5900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5900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590</TotalTime>
  <Words>500</Words>
  <Application>Microsoft Office PowerPoint</Application>
  <PresentationFormat>Widescreen</PresentationFormat>
  <Paragraphs>54</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Abadi</vt:lpstr>
      <vt:lpstr>Aptos</vt:lpstr>
      <vt:lpstr>Arial</vt:lpstr>
      <vt:lpstr>Calibri</vt:lpstr>
      <vt:lpstr>Calibri Light</vt:lpstr>
      <vt:lpstr>Office Theme</vt:lpstr>
      <vt:lpstr>Deep learning</vt:lpstr>
      <vt:lpstr>Deep learning vs Machine learning</vt:lpstr>
      <vt:lpstr>Artificial Neural Network</vt:lpstr>
      <vt:lpstr>PowerPoint Presentation</vt:lpstr>
      <vt:lpstr>History of neural network</vt:lpstr>
      <vt:lpstr>Building blocks of ANN</vt:lpstr>
      <vt:lpstr>Equation of neural network</vt:lpstr>
      <vt:lpstr>What is Activation function</vt:lpstr>
      <vt:lpstr>What is Activation function</vt:lpstr>
      <vt:lpstr>Types of Activation function</vt:lpstr>
      <vt:lpstr>Types of Activation function</vt:lpstr>
      <vt:lpstr>Activation function (Sigmoid)</vt:lpstr>
      <vt:lpstr>Other activation function</vt:lpstr>
      <vt:lpstr>Dropout</vt:lpstr>
      <vt:lpstr>Backpropagation</vt:lpstr>
      <vt:lpstr>Backpropagation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Neural network</dc:title>
  <dc:creator>Abhishek Kumar Singh</dc:creator>
  <cp:lastModifiedBy>Abhishek Kumar Singh</cp:lastModifiedBy>
  <cp:revision>102</cp:revision>
  <dcterms:created xsi:type="dcterms:W3CDTF">2023-01-16T09:33:16Z</dcterms:created>
  <dcterms:modified xsi:type="dcterms:W3CDTF">2025-04-29T09:17:38Z</dcterms:modified>
</cp:coreProperties>
</file>